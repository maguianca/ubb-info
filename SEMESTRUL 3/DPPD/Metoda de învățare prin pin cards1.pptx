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45C92C6E-46A9-9562-D62B-5E70C241702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titlu 2">
            <a:extLst>
              <a:ext uri="{FF2B5EF4-FFF2-40B4-BE49-F238E27FC236}">
                <a16:creationId xmlns:a16="http://schemas.microsoft.com/office/drawing/2014/main" id="{6FAF1FFF-F02F-23B2-001F-4675E57F93A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ro-RO"/>
              <a:t>Faceți clic pentru a edita stilul de subtitlu coordonator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00F3A5D-F5D4-F0D2-CDDD-B1178DB3A39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43FD362-D584-4DF7-8D27-3A57A1FC320B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0173982E-22E4-4102-E907-21D6352AD0D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C2A37761-7943-33D5-15CE-3325BFB4F66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3C2D67-5BCD-4B0F-8D8D-A07A6E6BD733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405154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82470CB-104C-C350-2F74-E405DB65579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7626889D-0D53-6AFF-B2CE-FFA47C84D1CE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6172FEE6-DFB7-F750-5536-BCF4DA6554E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0D4543-0F4B-41AC-A0AA-0024265B6908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4D9CED86-56B6-9F7F-4EFF-D5C42E056B3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B79EDC2B-D4B8-6134-217B-15406CB9266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9732F38-122C-4D81-AC17-874F500B0E62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5600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98D0A0D-59F9-66AA-6412-0F530333BD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45DE2713-98E6-534D-6BC8-0DE0436A13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DD197939-82F3-E45D-66E1-1971669573B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7E7E20-19B7-4206-A242-CCD8FE1BE214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A1496FE5-F8A8-E016-DE83-3C1F87B2C57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486E25F-F857-D8D3-29B2-A7FEAB50FF2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0BD2E7C-647A-46BF-851F-CF6C1939A488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04389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96BF1272-2DD5-4ED3-DF93-48EC7B02E62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DCF411E5-C561-21D8-FF39-2ACB7DC91B6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F6ABECE4-788C-F8D4-7C43-E320DBC604F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EFD5A5CF-997D-8C68-17F9-E5BCD9F650A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270A749-5AA0-4A42-AC09-A0365DAB17D9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5FCDD696-CA9D-B338-0E08-731D94174139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0BB99430-16A8-EA1F-A8C2-A3D4E976DA9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018EABE-B939-4F15-891F-81EAFEAB02D4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392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6C8DF7AD-559F-972B-EAC5-A6F63F5155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FD5A3BBB-30F1-2789-EA7C-611F4D2C09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4" name="Substituent conținut 3">
            <a:extLst>
              <a:ext uri="{FF2B5EF4-FFF2-40B4-BE49-F238E27FC236}">
                <a16:creationId xmlns:a16="http://schemas.microsoft.com/office/drawing/2014/main" id="{4F62C04D-E5F5-D38E-57CD-72A69E51A04E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5" name="Substituent text 4">
            <a:extLst>
              <a:ext uri="{FF2B5EF4-FFF2-40B4-BE49-F238E27FC236}">
                <a16:creationId xmlns:a16="http://schemas.microsoft.com/office/drawing/2014/main" id="{947AE824-8434-5781-2A0C-CF820B685E3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6" name="Substituent conținut 5">
            <a:extLst>
              <a:ext uri="{FF2B5EF4-FFF2-40B4-BE49-F238E27FC236}">
                <a16:creationId xmlns:a16="http://schemas.microsoft.com/office/drawing/2014/main" id="{A2C6CEB9-FCC5-E731-A67F-CC6C2AFE875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7" name="Substituent dată 6">
            <a:extLst>
              <a:ext uri="{FF2B5EF4-FFF2-40B4-BE49-F238E27FC236}">
                <a16:creationId xmlns:a16="http://schemas.microsoft.com/office/drawing/2014/main" id="{AF95C82B-189C-BFC4-85EF-4C5DA0DFC9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91359F-1F1D-44A0-B69D-BDE6497ABFDC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8" name="Substituent subsol 7">
            <a:extLst>
              <a:ext uri="{FF2B5EF4-FFF2-40B4-BE49-F238E27FC236}">
                <a16:creationId xmlns:a16="http://schemas.microsoft.com/office/drawing/2014/main" id="{03FF4CD7-38BF-17B4-6A79-492E83D959A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9" name="Substituent număr diapozitiv 8">
            <a:extLst>
              <a:ext uri="{FF2B5EF4-FFF2-40B4-BE49-F238E27FC236}">
                <a16:creationId xmlns:a16="http://schemas.microsoft.com/office/drawing/2014/main" id="{53D555EB-A8F7-5778-529B-82655016738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4A2F6A6-6228-4841-AEDA-48BA59DB0C22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90584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EDED8FB5-BD63-5367-E86F-BE0DBC2644C4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dată 2">
            <a:extLst>
              <a:ext uri="{FF2B5EF4-FFF2-40B4-BE49-F238E27FC236}">
                <a16:creationId xmlns:a16="http://schemas.microsoft.com/office/drawing/2014/main" id="{6B9465F4-3326-6608-CBEF-9D1934F9319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D8CA8D3-D982-42C9-B706-2EE77F990D39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4" name="Substituent subsol 3">
            <a:extLst>
              <a:ext uri="{FF2B5EF4-FFF2-40B4-BE49-F238E27FC236}">
                <a16:creationId xmlns:a16="http://schemas.microsoft.com/office/drawing/2014/main" id="{3F548D4D-A5DF-E857-636B-423A4D0C8C5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5" name="Substituent număr diapozitiv 4">
            <a:extLst>
              <a:ext uri="{FF2B5EF4-FFF2-40B4-BE49-F238E27FC236}">
                <a16:creationId xmlns:a16="http://schemas.microsoft.com/office/drawing/2014/main" id="{0F86BE5C-7787-9B60-4454-701B9958C4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57E67FA-4065-4A63-92BC-87638AF4CBD4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213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>
            <a:extLst>
              <a:ext uri="{FF2B5EF4-FFF2-40B4-BE49-F238E27FC236}">
                <a16:creationId xmlns:a16="http://schemas.microsoft.com/office/drawing/2014/main" id="{88A6BD45-CD2F-6670-D99A-5E8C162B3B6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E9BF65-3EB7-48BA-9280-C345236926B0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3" name="Substituent subsol 2">
            <a:extLst>
              <a:ext uri="{FF2B5EF4-FFF2-40B4-BE49-F238E27FC236}">
                <a16:creationId xmlns:a16="http://schemas.microsoft.com/office/drawing/2014/main" id="{B14F9737-FAFF-DC8A-44B4-EE53055A258F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4" name="Substituent număr diapozitiv 3">
            <a:extLst>
              <a:ext uri="{FF2B5EF4-FFF2-40B4-BE49-F238E27FC236}">
                <a16:creationId xmlns:a16="http://schemas.microsoft.com/office/drawing/2014/main" id="{D384EFEA-B15D-7342-D4B8-17DA8F528C6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B34B12F-1086-436E-9D17-498F52283971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02037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DB0BDA31-852C-ECD1-6E0A-8448CAA4CF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conținut 2">
            <a:extLst>
              <a:ext uri="{FF2B5EF4-FFF2-40B4-BE49-F238E27FC236}">
                <a16:creationId xmlns:a16="http://schemas.microsoft.com/office/drawing/2014/main" id="{FEB34E2C-53FC-0C04-51D6-9C7F1CE304A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D7E2280-5F91-943E-DC8C-9AF9C7754EA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E3A943BA-AC1B-7475-ADAC-67D569013F2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536A9E5-05C1-4BE8-A7EF-1A322C77225B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A99AC3E4-BEE0-360C-4489-CD638696AF5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94FAA69C-7CD9-D8B6-4C5B-988A94601A9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B02D3C4-0D61-45B1-9F18-CAE11B3DF38F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65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AAFC98F3-3652-C3BA-F48E-FB69738C8A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imagine 2">
            <a:extLst>
              <a:ext uri="{FF2B5EF4-FFF2-40B4-BE49-F238E27FC236}">
                <a16:creationId xmlns:a16="http://schemas.microsoft.com/office/drawing/2014/main" id="{48665970-7874-A134-AF50-5C569E7AE316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ro-RO"/>
          </a:p>
        </p:txBody>
      </p:sp>
      <p:sp>
        <p:nvSpPr>
          <p:cNvPr id="4" name="Substituent text 3">
            <a:extLst>
              <a:ext uri="{FF2B5EF4-FFF2-40B4-BE49-F238E27FC236}">
                <a16:creationId xmlns:a16="http://schemas.microsoft.com/office/drawing/2014/main" id="{8114BD0D-1C18-3762-B565-EA6495A9BA6D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o-RO"/>
              <a:t>Faceţi clic pentru a edita Master stiluri text</a:t>
            </a:r>
          </a:p>
        </p:txBody>
      </p:sp>
      <p:sp>
        <p:nvSpPr>
          <p:cNvPr id="5" name="Substituent dată 4">
            <a:extLst>
              <a:ext uri="{FF2B5EF4-FFF2-40B4-BE49-F238E27FC236}">
                <a16:creationId xmlns:a16="http://schemas.microsoft.com/office/drawing/2014/main" id="{63886816-8FF1-F423-2379-4BC3FD38557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C3DE6F-3606-43D5-A37C-C7C3BBD0E137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6" name="Substituent subsol 5">
            <a:extLst>
              <a:ext uri="{FF2B5EF4-FFF2-40B4-BE49-F238E27FC236}">
                <a16:creationId xmlns:a16="http://schemas.microsoft.com/office/drawing/2014/main" id="{D62C635E-ECAE-34DF-3DAA-7C1A0DE0541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7" name="Substituent număr diapozitiv 6">
            <a:extLst>
              <a:ext uri="{FF2B5EF4-FFF2-40B4-BE49-F238E27FC236}">
                <a16:creationId xmlns:a16="http://schemas.microsoft.com/office/drawing/2014/main" id="{AF8F29C5-9635-ACB3-0818-38F39DC5C9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0162364-0872-40FA-B6CC-9ACF13DAB67C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59998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78C73ABC-C018-C58B-FE8B-EE5EE5F1EB4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0438823F-F8DF-E20F-D719-1A761F1BE9FF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0C7F83E1-EFE9-BE37-D930-8E00656D1DD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5D3915-B8C1-4E28-8481-106364A4A607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96A28B04-621A-6DF4-2191-ABE89DF1D3A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CC2ADAE-B087-3C34-4C89-CB8EE882B8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D27D866-C8B7-4309-8D5E-3739480E71F7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85862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>
            <a:extLst>
              <a:ext uri="{FF2B5EF4-FFF2-40B4-BE49-F238E27FC236}">
                <a16:creationId xmlns:a16="http://schemas.microsoft.com/office/drawing/2014/main" id="{FE74A8E7-81EE-5EA6-405A-0B7F6483EDE5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vertical 2">
            <a:extLst>
              <a:ext uri="{FF2B5EF4-FFF2-40B4-BE49-F238E27FC236}">
                <a16:creationId xmlns:a16="http://schemas.microsoft.com/office/drawing/2014/main" id="{22901B48-07B5-1B95-E8FB-65552AE1ACF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7585BC38-7B88-0957-456A-90B15E0B85D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E39C5B-297A-42CF-A3F2-8429B02CBEFB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EDD59C1D-2899-A56D-F439-F5933430659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2A631D39-9D74-503F-33A2-B4BDFCE6122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76B1FD3-C8E2-4BCF-91C6-FDB61A8CA433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068768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u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>
            <a:extLst>
              <a:ext uri="{FF2B5EF4-FFF2-40B4-BE49-F238E27FC236}">
                <a16:creationId xmlns:a16="http://schemas.microsoft.com/office/drawing/2014/main" id="{C46CA85F-DD01-3B51-AEAC-B638FF8984C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76FFF69C-165D-0686-219F-2F01EAC420E7}"/>
              </a:ext>
            </a:extLst>
          </p:cNvPr>
          <p:cNvSpPr txBox="1"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5D11D0F7-9481-6472-E636-25168EF67FE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D387016-2F30-476B-9E6A-DCB13EF2FE3B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BF173F01-244E-CF2C-A7C1-D923A25F599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AD4652DB-03EB-094C-8532-D24A2564FDD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6ED73F8-88E2-4A93-B25F-2F59AEDA1178}" type="slidenum"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3129736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>
            <a:extLst>
              <a:ext uri="{FF2B5EF4-FFF2-40B4-BE49-F238E27FC236}">
                <a16:creationId xmlns:a16="http://schemas.microsoft.com/office/drawing/2014/main" id="{C8CD3113-17A4-CADB-EA25-BF4A252511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ro-RO"/>
              <a:t>Faceți clic pentru a edita stilul de titlu coordonator</a:t>
            </a:r>
          </a:p>
        </p:txBody>
      </p:sp>
      <p:sp>
        <p:nvSpPr>
          <p:cNvPr id="3" name="Substituent text 2">
            <a:extLst>
              <a:ext uri="{FF2B5EF4-FFF2-40B4-BE49-F238E27FC236}">
                <a16:creationId xmlns:a16="http://schemas.microsoft.com/office/drawing/2014/main" id="{C5643EB8-1854-FC14-5D6E-520CBE73AD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</a:p>
        </p:txBody>
      </p:sp>
      <p:sp>
        <p:nvSpPr>
          <p:cNvPr id="4" name="Substituent dată 3">
            <a:extLst>
              <a:ext uri="{FF2B5EF4-FFF2-40B4-BE49-F238E27FC236}">
                <a16:creationId xmlns:a16="http://schemas.microsoft.com/office/drawing/2014/main" id="{8CEBD67E-3DB5-90FC-5B40-C182E4169B9D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o-RO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CAE76459-D02A-4F9B-B171-04A403566F92}" type="datetime1">
              <a:rPr lang="ro-RO"/>
              <a:pPr lvl="0"/>
              <a:t>28.10.2024</a:t>
            </a:fld>
            <a:endParaRPr lang="ro-RO"/>
          </a:p>
        </p:txBody>
      </p:sp>
      <p:sp>
        <p:nvSpPr>
          <p:cNvPr id="5" name="Substituent subsol 4">
            <a:extLst>
              <a:ext uri="{FF2B5EF4-FFF2-40B4-BE49-F238E27FC236}">
                <a16:creationId xmlns:a16="http://schemas.microsoft.com/office/drawing/2014/main" id="{FDB03616-1DE1-F1CE-DB09-A56F3517061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o-RO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ro-RO"/>
          </a:p>
        </p:txBody>
      </p:sp>
      <p:sp>
        <p:nvSpPr>
          <p:cNvPr id="6" name="Substituent număr diapozitiv 5">
            <a:extLst>
              <a:ext uri="{FF2B5EF4-FFF2-40B4-BE49-F238E27FC236}">
                <a16:creationId xmlns:a16="http://schemas.microsoft.com/office/drawing/2014/main" id="{1D9F9B5F-BFBB-22F4-240A-3261E8FD0B8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ro-RO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EDDD63B2-8951-48E4-BCD7-295257E33ECB}" type="slidenum"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ro-RO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ro-RO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o-RO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o-RO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o-RO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ro-RO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697FBC0E-DD92-B7BE-3DDC-9D4DB741E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0AC1131D-7B21-50EC-1D12-A6AD4FBF81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1479554"/>
            <a:ext cx="1861855" cy="717511"/>
            <a:chOff x="0" y="1479554"/>
            <a:chExt cx="1861855" cy="717511"/>
          </a:xfrm>
        </p:grpSpPr>
        <p:sp>
          <p:nvSpPr>
            <p:cNvPr id="4" name="Freeform: Shape 10">
              <a:extLst>
                <a:ext uri="{FF2B5EF4-FFF2-40B4-BE49-F238E27FC236}">
                  <a16:creationId xmlns:a16="http://schemas.microsoft.com/office/drawing/2014/main" id="{1DD0535A-C881-F58E-B23E-0D8EE580B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479554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7963"/>
                <a:gd name="f19" fmla="val 39017"/>
                <a:gd name="f20" fmla="val 219283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7963 f28 1"/>
                <a:gd name="f46" fmla="*/ 39017 f28 1"/>
                <a:gd name="f47" fmla="*/ 277779 f28 1"/>
                <a:gd name="f48" fmla="*/ 0 f29 1"/>
                <a:gd name="f49" fmla="*/ 219283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5" name="Freeform: Shape 11">
              <a:extLst>
                <a:ext uri="{FF2B5EF4-FFF2-40B4-BE49-F238E27FC236}">
                  <a16:creationId xmlns:a16="http://schemas.microsoft.com/office/drawing/2014/main" id="{50CA1B15-F6FC-A171-9E16-D702354F0F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1919289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8208"/>
                <a:gd name="f19" fmla="val 39017"/>
                <a:gd name="f20" fmla="val 219475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8208 f28 1"/>
                <a:gd name="f46" fmla="*/ 39017 f28 1"/>
                <a:gd name="f47" fmla="*/ 277779 f28 1"/>
                <a:gd name="f48" fmla="*/ 0 f29 1"/>
                <a:gd name="f49" fmla="*/ 219475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6" name="Freeform: Shape 13">
            <a:extLst>
              <a:ext uri="{FF2B5EF4-FFF2-40B4-BE49-F238E27FC236}">
                <a16:creationId xmlns:a16="http://schemas.microsoft.com/office/drawing/2014/main" id="{AB59B6C0-AC2B-3115-2CAA-C99DCFC65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2018995" y="-34536"/>
            <a:ext cx="6655405" cy="6335466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355652"/>
              <a:gd name="f7" fmla="val 6050127"/>
              <a:gd name="f8" fmla="val 1825048"/>
              <a:gd name="f9" fmla="val 4530604"/>
              <a:gd name="f10" fmla="val 4692567"/>
              <a:gd name="f11" fmla="val 78022"/>
              <a:gd name="f12" fmla="val 5683175"/>
              <a:gd name="f13" fmla="val 616152"/>
              <a:gd name="f14" fmla="val 1665694"/>
              <a:gd name="f15" fmla="val 2872301"/>
              <a:gd name="f16" fmla="val 4627366"/>
              <a:gd name="f17" fmla="val 4932891"/>
              <a:gd name="f18" fmla="val 3177826"/>
              <a:gd name="f19" fmla="val 1422761"/>
              <a:gd name="f20" fmla="val 672477"/>
              <a:gd name="f21" fmla="val 1663086"/>
              <a:gd name="f22" fmla="+- 0 0 -90"/>
              <a:gd name="f23" fmla="*/ f3 1 6355652"/>
              <a:gd name="f24" fmla="*/ f4 1 6050127"/>
              <a:gd name="f25" fmla="val f5"/>
              <a:gd name="f26" fmla="val f6"/>
              <a:gd name="f27" fmla="val f7"/>
              <a:gd name="f28" fmla="*/ f22 f0 1"/>
              <a:gd name="f29" fmla="+- f27 0 f25"/>
              <a:gd name="f30" fmla="+- f26 0 f25"/>
              <a:gd name="f31" fmla="*/ f28 1 f2"/>
              <a:gd name="f32" fmla="*/ f30 1 6355652"/>
              <a:gd name="f33" fmla="*/ f29 1 6050127"/>
              <a:gd name="f34" fmla="*/ 1825048 f30 1"/>
              <a:gd name="f35" fmla="*/ 0 f29 1"/>
              <a:gd name="f36" fmla="*/ 4530604 f30 1"/>
              <a:gd name="f37" fmla="*/ 4692567 f30 1"/>
              <a:gd name="f38" fmla="*/ 78022 f29 1"/>
              <a:gd name="f39" fmla="*/ 6355652 f30 1"/>
              <a:gd name="f40" fmla="*/ 2872301 f29 1"/>
              <a:gd name="f41" fmla="*/ 3177826 f30 1"/>
              <a:gd name="f42" fmla="*/ 6050127 f29 1"/>
              <a:gd name="f43" fmla="*/ 0 f30 1"/>
              <a:gd name="f44" fmla="*/ 1663086 f30 1"/>
              <a:gd name="f45" fmla="+- f31 0 f1"/>
              <a:gd name="f46" fmla="*/ f34 1 6355652"/>
              <a:gd name="f47" fmla="*/ f35 1 6050127"/>
              <a:gd name="f48" fmla="*/ f36 1 6355652"/>
              <a:gd name="f49" fmla="*/ f37 1 6355652"/>
              <a:gd name="f50" fmla="*/ f38 1 6050127"/>
              <a:gd name="f51" fmla="*/ f39 1 6355652"/>
              <a:gd name="f52" fmla="*/ f40 1 6050127"/>
              <a:gd name="f53" fmla="*/ f41 1 6355652"/>
              <a:gd name="f54" fmla="*/ f42 1 6050127"/>
              <a:gd name="f55" fmla="*/ f43 1 6355652"/>
              <a:gd name="f56" fmla="*/ f44 1 6355652"/>
              <a:gd name="f57" fmla="*/ f25 1 f32"/>
              <a:gd name="f58" fmla="*/ f26 1 f32"/>
              <a:gd name="f59" fmla="*/ f25 1 f33"/>
              <a:gd name="f60" fmla="*/ f27 1 f33"/>
              <a:gd name="f61" fmla="*/ f46 1 f32"/>
              <a:gd name="f62" fmla="*/ f47 1 f33"/>
              <a:gd name="f63" fmla="*/ f48 1 f32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1 f32"/>
              <a:gd name="f71" fmla="*/ f56 1 f32"/>
              <a:gd name="f72" fmla="*/ f57 f23 1"/>
              <a:gd name="f73" fmla="*/ f58 f23 1"/>
              <a:gd name="f74" fmla="*/ f60 f24 1"/>
              <a:gd name="f75" fmla="*/ f59 f24 1"/>
              <a:gd name="f76" fmla="*/ f61 f23 1"/>
              <a:gd name="f77" fmla="*/ f62 f24 1"/>
              <a:gd name="f78" fmla="*/ f63 f23 1"/>
              <a:gd name="f79" fmla="*/ f64 f23 1"/>
              <a:gd name="f80" fmla="*/ f65 f24 1"/>
              <a:gd name="f81" fmla="*/ f66 f23 1"/>
              <a:gd name="f82" fmla="*/ f67 f24 1"/>
              <a:gd name="f83" fmla="*/ f68 f23 1"/>
              <a:gd name="f84" fmla="*/ f69 f24 1"/>
              <a:gd name="f85" fmla="*/ f70 f23 1"/>
              <a:gd name="f86" fmla="*/ f71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5">
                <a:pos x="f76" y="f77"/>
              </a:cxn>
              <a:cxn ang="f45">
                <a:pos x="f78" y="f77"/>
              </a:cxn>
              <a:cxn ang="f45">
                <a:pos x="f79" y="f80"/>
              </a:cxn>
              <a:cxn ang="f45">
                <a:pos x="f81" y="f82"/>
              </a:cxn>
              <a:cxn ang="f45">
                <a:pos x="f83" y="f84"/>
              </a:cxn>
              <a:cxn ang="f45">
                <a:pos x="f85" y="f82"/>
              </a:cxn>
              <a:cxn ang="f45">
                <a:pos x="f86" y="f80"/>
              </a:cxn>
            </a:cxnLst>
            <a:rect l="f72" t="f75" r="f73" b="f74"/>
            <a:pathLst>
              <a:path w="6355652" h="6050127">
                <a:moveTo>
                  <a:pt x="f8" y="f5"/>
                </a:moveTo>
                <a:lnTo>
                  <a:pt x="f9" y="f5"/>
                </a:lnTo>
                <a:lnTo>
                  <a:pt x="f10" y="f11"/>
                </a:lnTo>
                <a:cubicBezTo>
                  <a:pt x="f12" y="f13"/>
                  <a:pt x="f6" y="f14"/>
                  <a:pt x="f6" y="f15"/>
                </a:cubicBezTo>
                <a:cubicBezTo>
                  <a:pt x="f6" y="f16"/>
                  <a:pt x="f17" y="f7"/>
                  <a:pt x="f18" y="f7"/>
                </a:cubicBezTo>
                <a:cubicBezTo>
                  <a:pt x="f19" y="f7"/>
                  <a:pt x="f5" y="f16"/>
                  <a:pt x="f5" y="f15"/>
                </a:cubicBezTo>
                <a:cubicBezTo>
                  <a:pt x="f5" y="f14"/>
                  <a:pt x="f20" y="f13"/>
                  <a:pt x="f21" y="f11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7" name="Freeform: Shape 15">
            <a:extLst>
              <a:ext uri="{FF2B5EF4-FFF2-40B4-BE49-F238E27FC236}">
                <a16:creationId xmlns:a16="http://schemas.microsoft.com/office/drawing/2014/main" id="{5EF84517-273D-515E-2562-08CA9522C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1955197" y="-23902"/>
            <a:ext cx="6705249" cy="631852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355652"/>
              <a:gd name="f7" fmla="val 6050127"/>
              <a:gd name="f8" fmla="val 1825048"/>
              <a:gd name="f9" fmla="val 4530604"/>
              <a:gd name="f10" fmla="val 4692567"/>
              <a:gd name="f11" fmla="val 78022"/>
              <a:gd name="f12" fmla="val 5683175"/>
              <a:gd name="f13" fmla="val 616152"/>
              <a:gd name="f14" fmla="val 1665694"/>
              <a:gd name="f15" fmla="val 2872301"/>
              <a:gd name="f16" fmla="val 4627366"/>
              <a:gd name="f17" fmla="val 4932891"/>
              <a:gd name="f18" fmla="val 3177826"/>
              <a:gd name="f19" fmla="val 1422761"/>
              <a:gd name="f20" fmla="val 672477"/>
              <a:gd name="f21" fmla="val 1663086"/>
              <a:gd name="f22" fmla="+- 0 0 -90"/>
              <a:gd name="f23" fmla="*/ f3 1 6355652"/>
              <a:gd name="f24" fmla="*/ f4 1 6050127"/>
              <a:gd name="f25" fmla="val f5"/>
              <a:gd name="f26" fmla="val f6"/>
              <a:gd name="f27" fmla="val f7"/>
              <a:gd name="f28" fmla="*/ f22 f0 1"/>
              <a:gd name="f29" fmla="+- f27 0 f25"/>
              <a:gd name="f30" fmla="+- f26 0 f25"/>
              <a:gd name="f31" fmla="*/ f28 1 f2"/>
              <a:gd name="f32" fmla="*/ f30 1 6355652"/>
              <a:gd name="f33" fmla="*/ f29 1 6050127"/>
              <a:gd name="f34" fmla="*/ 1825048 f30 1"/>
              <a:gd name="f35" fmla="*/ 0 f29 1"/>
              <a:gd name="f36" fmla="*/ 4530604 f30 1"/>
              <a:gd name="f37" fmla="*/ 4692567 f30 1"/>
              <a:gd name="f38" fmla="*/ 78022 f29 1"/>
              <a:gd name="f39" fmla="*/ 6355652 f30 1"/>
              <a:gd name="f40" fmla="*/ 2872301 f29 1"/>
              <a:gd name="f41" fmla="*/ 3177826 f30 1"/>
              <a:gd name="f42" fmla="*/ 6050127 f29 1"/>
              <a:gd name="f43" fmla="*/ 0 f30 1"/>
              <a:gd name="f44" fmla="*/ 1663086 f30 1"/>
              <a:gd name="f45" fmla="+- f31 0 f1"/>
              <a:gd name="f46" fmla="*/ f34 1 6355652"/>
              <a:gd name="f47" fmla="*/ f35 1 6050127"/>
              <a:gd name="f48" fmla="*/ f36 1 6355652"/>
              <a:gd name="f49" fmla="*/ f37 1 6355652"/>
              <a:gd name="f50" fmla="*/ f38 1 6050127"/>
              <a:gd name="f51" fmla="*/ f39 1 6355652"/>
              <a:gd name="f52" fmla="*/ f40 1 6050127"/>
              <a:gd name="f53" fmla="*/ f41 1 6355652"/>
              <a:gd name="f54" fmla="*/ f42 1 6050127"/>
              <a:gd name="f55" fmla="*/ f43 1 6355652"/>
              <a:gd name="f56" fmla="*/ f44 1 6355652"/>
              <a:gd name="f57" fmla="*/ f25 1 f32"/>
              <a:gd name="f58" fmla="*/ f26 1 f32"/>
              <a:gd name="f59" fmla="*/ f25 1 f33"/>
              <a:gd name="f60" fmla="*/ f27 1 f33"/>
              <a:gd name="f61" fmla="*/ f46 1 f32"/>
              <a:gd name="f62" fmla="*/ f47 1 f33"/>
              <a:gd name="f63" fmla="*/ f48 1 f32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1 f32"/>
              <a:gd name="f71" fmla="*/ f56 1 f32"/>
              <a:gd name="f72" fmla="*/ f57 f23 1"/>
              <a:gd name="f73" fmla="*/ f58 f23 1"/>
              <a:gd name="f74" fmla="*/ f60 f24 1"/>
              <a:gd name="f75" fmla="*/ f59 f24 1"/>
              <a:gd name="f76" fmla="*/ f61 f23 1"/>
              <a:gd name="f77" fmla="*/ f62 f24 1"/>
              <a:gd name="f78" fmla="*/ f63 f23 1"/>
              <a:gd name="f79" fmla="*/ f64 f23 1"/>
              <a:gd name="f80" fmla="*/ f65 f24 1"/>
              <a:gd name="f81" fmla="*/ f66 f23 1"/>
              <a:gd name="f82" fmla="*/ f67 f24 1"/>
              <a:gd name="f83" fmla="*/ f68 f23 1"/>
              <a:gd name="f84" fmla="*/ f69 f24 1"/>
              <a:gd name="f85" fmla="*/ f70 f23 1"/>
              <a:gd name="f86" fmla="*/ f71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5">
                <a:pos x="f76" y="f77"/>
              </a:cxn>
              <a:cxn ang="f45">
                <a:pos x="f78" y="f77"/>
              </a:cxn>
              <a:cxn ang="f45">
                <a:pos x="f79" y="f80"/>
              </a:cxn>
              <a:cxn ang="f45">
                <a:pos x="f81" y="f82"/>
              </a:cxn>
              <a:cxn ang="f45">
                <a:pos x="f83" y="f84"/>
              </a:cxn>
              <a:cxn ang="f45">
                <a:pos x="f85" y="f82"/>
              </a:cxn>
              <a:cxn ang="f45">
                <a:pos x="f86" y="f80"/>
              </a:cxn>
            </a:cxnLst>
            <a:rect l="f72" t="f75" r="f73" b="f74"/>
            <a:pathLst>
              <a:path w="6355652" h="6050127">
                <a:moveTo>
                  <a:pt x="f8" y="f5"/>
                </a:moveTo>
                <a:lnTo>
                  <a:pt x="f9" y="f5"/>
                </a:lnTo>
                <a:lnTo>
                  <a:pt x="f10" y="f11"/>
                </a:lnTo>
                <a:cubicBezTo>
                  <a:pt x="f12" y="f13"/>
                  <a:pt x="f6" y="f14"/>
                  <a:pt x="f6" y="f15"/>
                </a:cubicBezTo>
                <a:cubicBezTo>
                  <a:pt x="f6" y="f16"/>
                  <a:pt x="f17" y="f7"/>
                  <a:pt x="f18" y="f7"/>
                </a:cubicBezTo>
                <a:cubicBezTo>
                  <a:pt x="f19" y="f7"/>
                  <a:pt x="f5" y="f16"/>
                  <a:pt x="f5" y="f15"/>
                </a:cubicBezTo>
                <a:cubicBezTo>
                  <a:pt x="f5" y="f14"/>
                  <a:pt x="f20" y="f13"/>
                  <a:pt x="f21" y="f11"/>
                </a:cubicBezTo>
                <a:close/>
              </a:path>
            </a:pathLst>
          </a:custGeom>
          <a:solidFill>
            <a:srgbClr val="4EA72E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BE0B79BB-8C92-ED3B-3E14-7092611042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1786883" y="-23902"/>
            <a:ext cx="6705249" cy="6215021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6355652"/>
              <a:gd name="f7" fmla="val 5890980"/>
              <a:gd name="f8" fmla="val 1529549"/>
              <a:gd name="f9" fmla="val 4826104"/>
              <a:gd name="f10" fmla="val 4954579"/>
              <a:gd name="f11" fmla="val 78051"/>
              <a:gd name="f12" fmla="val 5799886"/>
              <a:gd name="f13" fmla="val 649129"/>
              <a:gd name="f14" fmla="val 1616239"/>
              <a:gd name="f15" fmla="val 2713154"/>
              <a:gd name="f16" fmla="val 4468219"/>
              <a:gd name="f17" fmla="val 4932891"/>
              <a:gd name="f18" fmla="val 3177826"/>
              <a:gd name="f19" fmla="val 1422761"/>
              <a:gd name="f20" fmla="val 555766"/>
              <a:gd name="f21" fmla="val 1401073"/>
              <a:gd name="f22" fmla="+- 0 0 -90"/>
              <a:gd name="f23" fmla="*/ f3 1 6355652"/>
              <a:gd name="f24" fmla="*/ f4 1 5890980"/>
              <a:gd name="f25" fmla="val f5"/>
              <a:gd name="f26" fmla="val f6"/>
              <a:gd name="f27" fmla="val f7"/>
              <a:gd name="f28" fmla="*/ f22 f0 1"/>
              <a:gd name="f29" fmla="+- f27 0 f25"/>
              <a:gd name="f30" fmla="+- f26 0 f25"/>
              <a:gd name="f31" fmla="*/ f28 1 f2"/>
              <a:gd name="f32" fmla="*/ f30 1 6355652"/>
              <a:gd name="f33" fmla="*/ f29 1 5890980"/>
              <a:gd name="f34" fmla="*/ 1529549 f30 1"/>
              <a:gd name="f35" fmla="*/ 0 f29 1"/>
              <a:gd name="f36" fmla="*/ 4826104 f30 1"/>
              <a:gd name="f37" fmla="*/ 4954579 f30 1"/>
              <a:gd name="f38" fmla="*/ 78051 f29 1"/>
              <a:gd name="f39" fmla="*/ 6355652 f30 1"/>
              <a:gd name="f40" fmla="*/ 2713154 f29 1"/>
              <a:gd name="f41" fmla="*/ 3177826 f30 1"/>
              <a:gd name="f42" fmla="*/ 5890980 f29 1"/>
              <a:gd name="f43" fmla="*/ 0 f30 1"/>
              <a:gd name="f44" fmla="*/ 1401073 f30 1"/>
              <a:gd name="f45" fmla="+- f31 0 f1"/>
              <a:gd name="f46" fmla="*/ f34 1 6355652"/>
              <a:gd name="f47" fmla="*/ f35 1 5890980"/>
              <a:gd name="f48" fmla="*/ f36 1 6355652"/>
              <a:gd name="f49" fmla="*/ f37 1 6355652"/>
              <a:gd name="f50" fmla="*/ f38 1 5890980"/>
              <a:gd name="f51" fmla="*/ f39 1 6355652"/>
              <a:gd name="f52" fmla="*/ f40 1 5890980"/>
              <a:gd name="f53" fmla="*/ f41 1 6355652"/>
              <a:gd name="f54" fmla="*/ f42 1 5890980"/>
              <a:gd name="f55" fmla="*/ f43 1 6355652"/>
              <a:gd name="f56" fmla="*/ f44 1 6355652"/>
              <a:gd name="f57" fmla="*/ f25 1 f32"/>
              <a:gd name="f58" fmla="*/ f26 1 f32"/>
              <a:gd name="f59" fmla="*/ f25 1 f33"/>
              <a:gd name="f60" fmla="*/ f27 1 f33"/>
              <a:gd name="f61" fmla="*/ f46 1 f32"/>
              <a:gd name="f62" fmla="*/ f47 1 f33"/>
              <a:gd name="f63" fmla="*/ f48 1 f32"/>
              <a:gd name="f64" fmla="*/ f49 1 f32"/>
              <a:gd name="f65" fmla="*/ f50 1 f33"/>
              <a:gd name="f66" fmla="*/ f51 1 f32"/>
              <a:gd name="f67" fmla="*/ f52 1 f33"/>
              <a:gd name="f68" fmla="*/ f53 1 f32"/>
              <a:gd name="f69" fmla="*/ f54 1 f33"/>
              <a:gd name="f70" fmla="*/ f55 1 f32"/>
              <a:gd name="f71" fmla="*/ f56 1 f32"/>
              <a:gd name="f72" fmla="*/ f57 f23 1"/>
              <a:gd name="f73" fmla="*/ f58 f23 1"/>
              <a:gd name="f74" fmla="*/ f60 f24 1"/>
              <a:gd name="f75" fmla="*/ f59 f24 1"/>
              <a:gd name="f76" fmla="*/ f61 f23 1"/>
              <a:gd name="f77" fmla="*/ f62 f24 1"/>
              <a:gd name="f78" fmla="*/ f63 f23 1"/>
              <a:gd name="f79" fmla="*/ f64 f23 1"/>
              <a:gd name="f80" fmla="*/ f65 f24 1"/>
              <a:gd name="f81" fmla="*/ f66 f23 1"/>
              <a:gd name="f82" fmla="*/ f67 f24 1"/>
              <a:gd name="f83" fmla="*/ f68 f23 1"/>
              <a:gd name="f84" fmla="*/ f69 f24 1"/>
              <a:gd name="f85" fmla="*/ f70 f23 1"/>
              <a:gd name="f86" fmla="*/ f71 f23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5">
                <a:pos x="f76" y="f77"/>
              </a:cxn>
              <a:cxn ang="f45">
                <a:pos x="f78" y="f77"/>
              </a:cxn>
              <a:cxn ang="f45">
                <a:pos x="f79" y="f80"/>
              </a:cxn>
              <a:cxn ang="f45">
                <a:pos x="f81" y="f82"/>
              </a:cxn>
              <a:cxn ang="f45">
                <a:pos x="f83" y="f84"/>
              </a:cxn>
              <a:cxn ang="f45">
                <a:pos x="f85" y="f82"/>
              </a:cxn>
              <a:cxn ang="f45">
                <a:pos x="f86" y="f80"/>
              </a:cxn>
            </a:cxnLst>
            <a:rect l="f72" t="f75" r="f73" b="f74"/>
            <a:pathLst>
              <a:path w="6355652" h="5890980">
                <a:moveTo>
                  <a:pt x="f8" y="f5"/>
                </a:moveTo>
                <a:lnTo>
                  <a:pt x="f9" y="f5"/>
                </a:lnTo>
                <a:lnTo>
                  <a:pt x="f10" y="f11"/>
                </a:lnTo>
                <a:cubicBezTo>
                  <a:pt x="f12" y="f13"/>
                  <a:pt x="f6" y="f14"/>
                  <a:pt x="f6" y="f15"/>
                </a:cubicBezTo>
                <a:cubicBezTo>
                  <a:pt x="f6" y="f16"/>
                  <a:pt x="f17" y="f7"/>
                  <a:pt x="f18" y="f7"/>
                </a:cubicBezTo>
                <a:cubicBezTo>
                  <a:pt x="f19" y="f7"/>
                  <a:pt x="f5" y="f16"/>
                  <a:pt x="f5" y="f15"/>
                </a:cubicBezTo>
                <a:cubicBezTo>
                  <a:pt x="f5" y="f14"/>
                  <a:pt x="f20" y="f13"/>
                  <a:pt x="f21" y="f11"/>
                </a:cubicBezTo>
                <a:close/>
              </a:path>
            </a:pathLst>
          </a:cu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9" name="Titlu 1">
            <a:extLst>
              <a:ext uri="{FF2B5EF4-FFF2-40B4-BE49-F238E27FC236}">
                <a16:creationId xmlns:a16="http://schemas.microsoft.com/office/drawing/2014/main" id="{3E7FE884-9120-A363-3D25-335F07DAAE4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42410" y="895481"/>
            <a:ext cx="5786231" cy="3011192"/>
          </a:xfrm>
        </p:spPr>
        <p:txBody>
          <a:bodyPr/>
          <a:lstStyle/>
          <a:p>
            <a:pPr lvl="0"/>
            <a:r>
              <a:rPr lang="ro-RO" sz="5400">
                <a:solidFill>
                  <a:srgbClr val="FFFFFF"/>
                </a:solidFill>
              </a:rPr>
              <a:t>Metoda de învățare prin carduri</a:t>
            </a:r>
          </a:p>
        </p:txBody>
      </p:sp>
      <p:sp>
        <p:nvSpPr>
          <p:cNvPr id="10" name="Subtitlu 2">
            <a:extLst>
              <a:ext uri="{FF2B5EF4-FFF2-40B4-BE49-F238E27FC236}">
                <a16:creationId xmlns:a16="http://schemas.microsoft.com/office/drawing/2014/main" id="{96D40F21-A174-5829-48AA-0358585640F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66273" y="4142094"/>
            <a:ext cx="5338514" cy="1055144"/>
          </a:xfrm>
        </p:spPr>
        <p:txBody>
          <a:bodyPr/>
          <a:lstStyle/>
          <a:p>
            <a:pPr lvl="0"/>
            <a:r>
              <a:rPr lang="pt-BR" sz="2000" dirty="0">
                <a:solidFill>
                  <a:srgbClr val="FFFFFF"/>
                </a:solidFill>
              </a:rPr>
              <a:t>O metoda eficienta de memorare </a:t>
            </a:r>
            <a:r>
              <a:rPr lang="ro-RO" sz="2000" dirty="0">
                <a:solidFill>
                  <a:srgbClr val="FFFFFF"/>
                </a:solidFill>
              </a:rPr>
              <a:t>și</a:t>
            </a:r>
            <a:r>
              <a:rPr lang="pt-BR" sz="2000" dirty="0">
                <a:solidFill>
                  <a:srgbClr val="FFFFFF"/>
                </a:solidFill>
              </a:rPr>
              <a:t> în</a:t>
            </a:r>
            <a:r>
              <a:rPr lang="ro-RO" sz="2000" dirty="0">
                <a:solidFill>
                  <a:srgbClr val="FFFFFF"/>
                </a:solidFill>
              </a:rPr>
              <a:t>ț</a:t>
            </a:r>
            <a:r>
              <a:rPr lang="pt-BR" sz="2000" dirty="0">
                <a:solidFill>
                  <a:srgbClr val="FFFFFF"/>
                </a:solidFill>
              </a:rPr>
              <a:t>elegere a conceptelor cheie</a:t>
            </a:r>
            <a:endParaRPr lang="ro-RO" sz="2000" dirty="0">
              <a:solidFill>
                <a:srgbClr val="FFFFFF"/>
              </a:solidFill>
            </a:endParaRPr>
          </a:p>
        </p:txBody>
      </p:sp>
      <p:sp>
        <p:nvSpPr>
          <p:cNvPr id="11" name="Graphic 212">
            <a:extLst>
              <a:ext uri="{FF2B5EF4-FFF2-40B4-BE49-F238E27FC236}">
                <a16:creationId xmlns:a16="http://schemas.microsoft.com/office/drawing/2014/main" id="{9BEFC56A-9962-6930-C68F-179EA19118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534716" y="188494"/>
            <a:ext cx="1048368" cy="104836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Graphic 212">
            <a:extLst>
              <a:ext uri="{FF2B5EF4-FFF2-40B4-BE49-F238E27FC236}">
                <a16:creationId xmlns:a16="http://schemas.microsoft.com/office/drawing/2014/main" id="{8E8D7033-EF4E-F9CE-53A2-D5D2828C2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534716" y="188494"/>
            <a:ext cx="1048368" cy="104836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grpSp>
        <p:nvGrpSpPr>
          <p:cNvPr id="13" name="Graphic 185">
            <a:extLst>
              <a:ext uri="{FF2B5EF4-FFF2-40B4-BE49-F238E27FC236}">
                <a16:creationId xmlns:a16="http://schemas.microsoft.com/office/drawing/2014/main" id="{18482BBF-E0BB-805B-080F-AFA70D932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583104" y="3578321"/>
            <a:ext cx="1054466" cy="469690"/>
            <a:chOff x="9583104" y="3578321"/>
            <a:chExt cx="1054466" cy="469690"/>
          </a:xfrm>
        </p:grpSpPr>
        <p:sp>
          <p:nvSpPr>
            <p:cNvPr id="14" name="Freeform: Shape 24">
              <a:extLst>
                <a:ext uri="{FF2B5EF4-FFF2-40B4-BE49-F238E27FC236}">
                  <a16:creationId xmlns:a16="http://schemas.microsoft.com/office/drawing/2014/main" id="{F2400CD4-6031-8235-E173-E314DE70D9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583104" y="357832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5" name="Freeform: Shape 25">
              <a:extLst>
                <a:ext uri="{FF2B5EF4-FFF2-40B4-BE49-F238E27FC236}">
                  <a16:creationId xmlns:a16="http://schemas.microsoft.com/office/drawing/2014/main" id="{AA4B9850-9669-FBA3-9407-02271AF189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757900" y="357832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6" name="Freeform: Shape 26">
              <a:extLst>
                <a:ext uri="{FF2B5EF4-FFF2-40B4-BE49-F238E27FC236}">
                  <a16:creationId xmlns:a16="http://schemas.microsoft.com/office/drawing/2014/main" id="{C5B3890E-21BA-105E-BA17-E62DBCC62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32697" y="357832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7" name="Freeform: Shape 27">
              <a:extLst>
                <a:ext uri="{FF2B5EF4-FFF2-40B4-BE49-F238E27FC236}">
                  <a16:creationId xmlns:a16="http://schemas.microsoft.com/office/drawing/2014/main" id="{6869B2C5-2919-E5CA-9ED8-3F63B522C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07503" y="357832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8" name="Freeform: Shape 28">
              <a:extLst>
                <a:ext uri="{FF2B5EF4-FFF2-40B4-BE49-F238E27FC236}">
                  <a16:creationId xmlns:a16="http://schemas.microsoft.com/office/drawing/2014/main" id="{B8EEA409-1D70-A3DA-A7C9-1F106640C6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282299" y="3578321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19" name="Oval 30">
            <a:extLst>
              <a:ext uri="{FF2B5EF4-FFF2-40B4-BE49-F238E27FC236}">
                <a16:creationId xmlns:a16="http://schemas.microsoft.com/office/drawing/2014/main" id="{1074EE5C-0695-03A7-7B23-05215AA2FF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1444523" y="4910355"/>
            <a:ext cx="468090" cy="46809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0" name="Oval 32">
            <a:extLst>
              <a:ext uri="{FF2B5EF4-FFF2-40B4-BE49-F238E27FC236}">
                <a16:creationId xmlns:a16="http://schemas.microsoft.com/office/drawing/2014/main" id="{F52C868A-340B-F0BC-3E9E-660454EDC4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1444523" y="4910355"/>
            <a:ext cx="468090" cy="468090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1" name="Freeform: Shape 34">
            <a:extLst>
              <a:ext uri="{FF2B5EF4-FFF2-40B4-BE49-F238E27FC236}">
                <a16:creationId xmlns:a16="http://schemas.microsoft.com/office/drawing/2014/main" id="{1E58680D-AC60-733F-1525-8E4F1ED6F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9422471" y="4200771"/>
            <a:ext cx="2769534" cy="26572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2581"/>
              <a:gd name="f7" fmla="val 3293393"/>
              <a:gd name="f8" fmla="val 2473947"/>
              <a:gd name="f9" fmla="val 2730133"/>
              <a:gd name="f10" fmla="val 2977223"/>
              <a:gd name="f11" fmla="val 38940"/>
              <a:gd name="f12" fmla="val 3209623"/>
              <a:gd name="f13" fmla="val 111224"/>
              <a:gd name="f14" fmla="val 192828"/>
              <a:gd name="f15" fmla="val 141884"/>
              <a:gd name="f16" fmla="val 2977224"/>
              <a:gd name="f17" fmla="val 1107624"/>
              <a:gd name="f18" fmla="+- 0 0 -90"/>
              <a:gd name="f19" fmla="*/ f3 1 3432581"/>
              <a:gd name="f20" fmla="*/ f4 1 3293393"/>
              <a:gd name="f21" fmla="val f5"/>
              <a:gd name="f22" fmla="val f6"/>
              <a:gd name="f23" fmla="val f7"/>
              <a:gd name="f24" fmla="*/ f18 f0 1"/>
              <a:gd name="f25" fmla="+- f23 0 f21"/>
              <a:gd name="f26" fmla="+- f22 0 f21"/>
              <a:gd name="f27" fmla="*/ f24 1 f2"/>
              <a:gd name="f28" fmla="*/ f26 1 3432581"/>
              <a:gd name="f29" fmla="*/ f25 1 3293393"/>
              <a:gd name="f30" fmla="*/ 2473947 f26 1"/>
              <a:gd name="f31" fmla="*/ 0 f25 1"/>
              <a:gd name="f32" fmla="*/ 3209623 f26 1"/>
              <a:gd name="f33" fmla="*/ 111224 f25 1"/>
              <a:gd name="f34" fmla="*/ 3432581 f26 1"/>
              <a:gd name="f35" fmla="*/ 192828 f25 1"/>
              <a:gd name="f36" fmla="*/ 3293393 f25 1"/>
              <a:gd name="f37" fmla="*/ 141884 f26 1"/>
              <a:gd name="f38" fmla="*/ 111224 f26 1"/>
              <a:gd name="f39" fmla="*/ 3209623 f25 1"/>
              <a:gd name="f40" fmla="*/ 0 f26 1"/>
              <a:gd name="f41" fmla="*/ 2473947 f25 1"/>
              <a:gd name="f42" fmla="+- f27 0 f1"/>
              <a:gd name="f43" fmla="*/ f30 1 3432581"/>
              <a:gd name="f44" fmla="*/ f31 1 3293393"/>
              <a:gd name="f45" fmla="*/ f32 1 3432581"/>
              <a:gd name="f46" fmla="*/ f33 1 3293393"/>
              <a:gd name="f47" fmla="*/ f34 1 3432581"/>
              <a:gd name="f48" fmla="*/ f35 1 3293393"/>
              <a:gd name="f49" fmla="*/ f36 1 3293393"/>
              <a:gd name="f50" fmla="*/ f37 1 3432581"/>
              <a:gd name="f51" fmla="*/ f38 1 3432581"/>
              <a:gd name="f52" fmla="*/ f39 1 3293393"/>
              <a:gd name="f53" fmla="*/ f40 1 3432581"/>
              <a:gd name="f54" fmla="*/ f41 1 3293393"/>
              <a:gd name="f55" fmla="*/ f21 1 f28"/>
              <a:gd name="f56" fmla="*/ f22 1 f28"/>
              <a:gd name="f57" fmla="*/ f21 1 f29"/>
              <a:gd name="f58" fmla="*/ f23 1 f29"/>
              <a:gd name="f59" fmla="*/ f43 1 f28"/>
              <a:gd name="f60" fmla="*/ f44 1 f29"/>
              <a:gd name="f61" fmla="*/ f45 1 f28"/>
              <a:gd name="f62" fmla="*/ f46 1 f29"/>
              <a:gd name="f63" fmla="*/ f47 1 f28"/>
              <a:gd name="f64" fmla="*/ f48 1 f29"/>
              <a:gd name="f65" fmla="*/ f49 1 f29"/>
              <a:gd name="f66" fmla="*/ f50 1 f28"/>
              <a:gd name="f67" fmla="*/ f51 1 f28"/>
              <a:gd name="f68" fmla="*/ f52 1 f29"/>
              <a:gd name="f69" fmla="*/ f53 1 f28"/>
              <a:gd name="f70" fmla="*/ f54 1 f29"/>
              <a:gd name="f71" fmla="*/ f55 f19 1"/>
              <a:gd name="f72" fmla="*/ f56 f19 1"/>
              <a:gd name="f73" fmla="*/ f58 f20 1"/>
              <a:gd name="f74" fmla="*/ f57 f20 1"/>
              <a:gd name="f75" fmla="*/ f59 f19 1"/>
              <a:gd name="f76" fmla="*/ f60 f20 1"/>
              <a:gd name="f77" fmla="*/ f61 f19 1"/>
              <a:gd name="f78" fmla="*/ f62 f20 1"/>
              <a:gd name="f79" fmla="*/ f63 f19 1"/>
              <a:gd name="f80" fmla="*/ f64 f20 1"/>
              <a:gd name="f81" fmla="*/ f65 f20 1"/>
              <a:gd name="f82" fmla="*/ f66 f19 1"/>
              <a:gd name="f83" fmla="*/ f67 f19 1"/>
              <a:gd name="f84" fmla="*/ f68 f20 1"/>
              <a:gd name="f85" fmla="*/ f69 f19 1"/>
              <a:gd name="f86" fmla="*/ f70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75" y="f76"/>
              </a:cxn>
              <a:cxn ang="f42">
                <a:pos x="f77" y="f78"/>
              </a:cxn>
              <a:cxn ang="f42">
                <a:pos x="f79" y="f80"/>
              </a:cxn>
              <a:cxn ang="f42">
                <a:pos x="f79" y="f81"/>
              </a:cxn>
              <a:cxn ang="f42">
                <a:pos x="f82" y="f81"/>
              </a:cxn>
              <a:cxn ang="f42">
                <a:pos x="f83" y="f84"/>
              </a:cxn>
              <a:cxn ang="f42">
                <a:pos x="f85" y="f86"/>
              </a:cxn>
              <a:cxn ang="f42">
                <a:pos x="f75" y="f76"/>
              </a:cxn>
            </a:cxnLst>
            <a:rect l="f71" t="f74" r="f72" b="f73"/>
            <a:pathLst>
              <a:path w="3432581" h="3293393">
                <a:moveTo>
                  <a:pt x="f8" y="f5"/>
                </a:moveTo>
                <a:cubicBezTo>
                  <a:pt x="f9" y="f5"/>
                  <a:pt x="f10" y="f11"/>
                  <a:pt x="f12" y="f13"/>
                </a:cubicBezTo>
                <a:lnTo>
                  <a:pt x="f6" y="f14"/>
                </a:lnTo>
                <a:lnTo>
                  <a:pt x="f6" y="f7"/>
                </a:lnTo>
                <a:lnTo>
                  <a:pt x="f15" y="f7"/>
                </a:lnTo>
                <a:lnTo>
                  <a:pt x="f13" y="f12"/>
                </a:lnTo>
                <a:cubicBezTo>
                  <a:pt x="f11" y="f16"/>
                  <a:pt x="f5" y="f9"/>
                  <a:pt x="f5" y="f8"/>
                </a:cubicBezTo>
                <a:cubicBezTo>
                  <a:pt x="f5" y="f17"/>
                  <a:pt x="f17" y="f5"/>
                  <a:pt x="f8" y="f5"/>
                </a:cubicBezTo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2" name="Freeform: Shape 36">
            <a:extLst>
              <a:ext uri="{FF2B5EF4-FFF2-40B4-BE49-F238E27FC236}">
                <a16:creationId xmlns:a16="http://schemas.microsoft.com/office/drawing/2014/main" id="{B20259F6-B134-2E16-5163-071AE85E5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9422471" y="4200771"/>
            <a:ext cx="2769534" cy="265722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432581"/>
              <a:gd name="f7" fmla="val 3293393"/>
              <a:gd name="f8" fmla="val 2473947"/>
              <a:gd name="f9" fmla="val 2730133"/>
              <a:gd name="f10" fmla="val 2977223"/>
              <a:gd name="f11" fmla="val 38940"/>
              <a:gd name="f12" fmla="val 3209623"/>
              <a:gd name="f13" fmla="val 111224"/>
              <a:gd name="f14" fmla="val 192828"/>
              <a:gd name="f15" fmla="val 141884"/>
              <a:gd name="f16" fmla="val 2977224"/>
              <a:gd name="f17" fmla="val 1107624"/>
              <a:gd name="f18" fmla="+- 0 0 -90"/>
              <a:gd name="f19" fmla="*/ f3 1 3432581"/>
              <a:gd name="f20" fmla="*/ f4 1 3293393"/>
              <a:gd name="f21" fmla="val f5"/>
              <a:gd name="f22" fmla="val f6"/>
              <a:gd name="f23" fmla="val f7"/>
              <a:gd name="f24" fmla="*/ f18 f0 1"/>
              <a:gd name="f25" fmla="+- f23 0 f21"/>
              <a:gd name="f26" fmla="+- f22 0 f21"/>
              <a:gd name="f27" fmla="*/ f24 1 f2"/>
              <a:gd name="f28" fmla="*/ f26 1 3432581"/>
              <a:gd name="f29" fmla="*/ f25 1 3293393"/>
              <a:gd name="f30" fmla="*/ 2473947 f26 1"/>
              <a:gd name="f31" fmla="*/ 0 f25 1"/>
              <a:gd name="f32" fmla="*/ 3209623 f26 1"/>
              <a:gd name="f33" fmla="*/ 111224 f25 1"/>
              <a:gd name="f34" fmla="*/ 3432581 f26 1"/>
              <a:gd name="f35" fmla="*/ 192828 f25 1"/>
              <a:gd name="f36" fmla="*/ 3293393 f25 1"/>
              <a:gd name="f37" fmla="*/ 141884 f26 1"/>
              <a:gd name="f38" fmla="*/ 111224 f26 1"/>
              <a:gd name="f39" fmla="*/ 3209623 f25 1"/>
              <a:gd name="f40" fmla="*/ 0 f26 1"/>
              <a:gd name="f41" fmla="*/ 2473947 f25 1"/>
              <a:gd name="f42" fmla="+- f27 0 f1"/>
              <a:gd name="f43" fmla="*/ f30 1 3432581"/>
              <a:gd name="f44" fmla="*/ f31 1 3293393"/>
              <a:gd name="f45" fmla="*/ f32 1 3432581"/>
              <a:gd name="f46" fmla="*/ f33 1 3293393"/>
              <a:gd name="f47" fmla="*/ f34 1 3432581"/>
              <a:gd name="f48" fmla="*/ f35 1 3293393"/>
              <a:gd name="f49" fmla="*/ f36 1 3293393"/>
              <a:gd name="f50" fmla="*/ f37 1 3432581"/>
              <a:gd name="f51" fmla="*/ f38 1 3432581"/>
              <a:gd name="f52" fmla="*/ f39 1 3293393"/>
              <a:gd name="f53" fmla="*/ f40 1 3432581"/>
              <a:gd name="f54" fmla="*/ f41 1 3293393"/>
              <a:gd name="f55" fmla="*/ f21 1 f28"/>
              <a:gd name="f56" fmla="*/ f22 1 f28"/>
              <a:gd name="f57" fmla="*/ f21 1 f29"/>
              <a:gd name="f58" fmla="*/ f23 1 f29"/>
              <a:gd name="f59" fmla="*/ f43 1 f28"/>
              <a:gd name="f60" fmla="*/ f44 1 f29"/>
              <a:gd name="f61" fmla="*/ f45 1 f28"/>
              <a:gd name="f62" fmla="*/ f46 1 f29"/>
              <a:gd name="f63" fmla="*/ f47 1 f28"/>
              <a:gd name="f64" fmla="*/ f48 1 f29"/>
              <a:gd name="f65" fmla="*/ f49 1 f29"/>
              <a:gd name="f66" fmla="*/ f50 1 f28"/>
              <a:gd name="f67" fmla="*/ f51 1 f28"/>
              <a:gd name="f68" fmla="*/ f52 1 f29"/>
              <a:gd name="f69" fmla="*/ f53 1 f28"/>
              <a:gd name="f70" fmla="*/ f54 1 f29"/>
              <a:gd name="f71" fmla="*/ f55 f19 1"/>
              <a:gd name="f72" fmla="*/ f56 f19 1"/>
              <a:gd name="f73" fmla="*/ f58 f20 1"/>
              <a:gd name="f74" fmla="*/ f57 f20 1"/>
              <a:gd name="f75" fmla="*/ f59 f19 1"/>
              <a:gd name="f76" fmla="*/ f60 f20 1"/>
              <a:gd name="f77" fmla="*/ f61 f19 1"/>
              <a:gd name="f78" fmla="*/ f62 f20 1"/>
              <a:gd name="f79" fmla="*/ f63 f19 1"/>
              <a:gd name="f80" fmla="*/ f64 f20 1"/>
              <a:gd name="f81" fmla="*/ f65 f20 1"/>
              <a:gd name="f82" fmla="*/ f66 f19 1"/>
              <a:gd name="f83" fmla="*/ f67 f19 1"/>
              <a:gd name="f84" fmla="*/ f68 f20 1"/>
              <a:gd name="f85" fmla="*/ f69 f19 1"/>
              <a:gd name="f86" fmla="*/ f70 f20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42">
                <a:pos x="f75" y="f76"/>
              </a:cxn>
              <a:cxn ang="f42">
                <a:pos x="f77" y="f78"/>
              </a:cxn>
              <a:cxn ang="f42">
                <a:pos x="f79" y="f80"/>
              </a:cxn>
              <a:cxn ang="f42">
                <a:pos x="f79" y="f81"/>
              </a:cxn>
              <a:cxn ang="f42">
                <a:pos x="f82" y="f81"/>
              </a:cxn>
              <a:cxn ang="f42">
                <a:pos x="f83" y="f84"/>
              </a:cxn>
              <a:cxn ang="f42">
                <a:pos x="f85" y="f86"/>
              </a:cxn>
              <a:cxn ang="f42">
                <a:pos x="f75" y="f76"/>
              </a:cxn>
            </a:cxnLst>
            <a:rect l="f71" t="f74" r="f72" b="f73"/>
            <a:pathLst>
              <a:path w="3432581" h="3293393">
                <a:moveTo>
                  <a:pt x="f8" y="f5"/>
                </a:moveTo>
                <a:cubicBezTo>
                  <a:pt x="f9" y="f5"/>
                  <a:pt x="f10" y="f11"/>
                  <a:pt x="f12" y="f13"/>
                </a:cubicBezTo>
                <a:lnTo>
                  <a:pt x="f6" y="f14"/>
                </a:lnTo>
                <a:lnTo>
                  <a:pt x="f6" y="f7"/>
                </a:lnTo>
                <a:lnTo>
                  <a:pt x="f15" y="f7"/>
                </a:lnTo>
                <a:lnTo>
                  <a:pt x="f13" y="f12"/>
                </a:lnTo>
                <a:cubicBezTo>
                  <a:pt x="f11" y="f16"/>
                  <a:pt x="f5" y="f9"/>
                  <a:pt x="f5" y="f8"/>
                </a:cubicBezTo>
                <a:cubicBezTo>
                  <a:pt x="f5" y="f17"/>
                  <a:pt x="f17" y="f5"/>
                  <a:pt x="f8" y="f5"/>
                </a:cubicBezTo>
                <a:close/>
              </a:path>
            </a:pathLst>
          </a:custGeom>
          <a:solidFill>
            <a:srgbClr val="E97132">
              <a:alpha val="30000"/>
            </a:srgb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3" name="CasetăText 3">
            <a:extLst>
              <a:ext uri="{FF2B5EF4-FFF2-40B4-BE49-F238E27FC236}">
                <a16:creationId xmlns:a16="http://schemas.microsoft.com/office/drawing/2014/main" id="{24248133-5B4C-4C50-4EB1-2A9E91EFD427}"/>
              </a:ext>
            </a:extLst>
          </p:cNvPr>
          <p:cNvSpPr txBox="1"/>
          <p:nvPr/>
        </p:nvSpPr>
        <p:spPr>
          <a:xfrm>
            <a:off x="9624672" y="5197239"/>
            <a:ext cx="2651476" cy="1477332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RO" sz="1800" b="0" i="0" u="none" strike="noStrike" kern="1200" cap="none" spc="0" baseline="0">
                <a:solidFill>
                  <a:srgbClr val="275317"/>
                </a:solidFill>
                <a:uFillTx/>
                <a:latin typeface="Aptos"/>
              </a:rPr>
              <a:t>Proiect realizat de</a:t>
            </a:r>
            <a:r>
              <a:rPr lang="en-US" sz="1800" b="0" i="0" u="none" strike="noStrike" kern="1200" cap="none" spc="0" baseline="0">
                <a:solidFill>
                  <a:srgbClr val="275317"/>
                </a:solidFill>
                <a:uFillTx/>
                <a:latin typeface="Aptos"/>
              </a:rPr>
              <a:t>:</a:t>
            </a:r>
            <a:endParaRPr lang="ro-RO" sz="1800" b="0" i="0" u="none" strike="noStrike" kern="1200" cap="none" spc="0" baseline="0">
              <a:solidFill>
                <a:srgbClr val="275317"/>
              </a:solidFill>
              <a:uFillTx/>
              <a:latin typeface="Aptos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75317"/>
                </a:solidFill>
                <a:uFillTx/>
                <a:latin typeface="Aptos"/>
              </a:rPr>
              <a:t>      </a:t>
            </a:r>
            <a:r>
              <a:rPr lang="ro-RO" sz="1800" b="0" i="0" u="none" strike="noStrike" kern="1200" cap="none" spc="0" baseline="0">
                <a:solidFill>
                  <a:srgbClr val="275317"/>
                </a:solidFill>
                <a:uFillTx/>
                <a:latin typeface="Aptos"/>
              </a:rPr>
              <a:t>Magui Anca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275317"/>
                </a:solidFill>
                <a:uFillTx/>
                <a:latin typeface="Aptos"/>
              </a:rPr>
              <a:t>      </a:t>
            </a:r>
            <a:r>
              <a:rPr lang="ro-RO" sz="1800" b="0" i="0" u="none" strike="noStrike" kern="1200" cap="none" spc="0" baseline="0">
                <a:solidFill>
                  <a:srgbClr val="275317"/>
                </a:solidFill>
                <a:uFillTx/>
                <a:latin typeface="Aptos"/>
              </a:rPr>
              <a:t>Moga Antonia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ro-RO" sz="1800" b="0" i="0" u="none" strike="noStrike" kern="1200" cap="none" spc="0" baseline="0">
                <a:solidFill>
                  <a:srgbClr val="275317"/>
                </a:solidFill>
                <a:uFillTx/>
                <a:latin typeface="Aptos"/>
              </a:rPr>
              <a:t>INFORMATICA ROMÂNĂ 	224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86AAE71E-2195-987A-B1EA-F0F3FDA5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7AC44DE7-0A86-268E-046F-B972077E0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88394" y="1040834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Oval 11">
            <a:extLst>
              <a:ext uri="{FF2B5EF4-FFF2-40B4-BE49-F238E27FC236}">
                <a16:creationId xmlns:a16="http://schemas.microsoft.com/office/drawing/2014/main" id="{ED835B0E-0C80-A100-B3D7-07ABB2D05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79415" y="1029605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4EA72E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76008E42-3C6D-2D16-BC79-36F78D5D4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739959" y="934855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Titlu 1">
            <a:extLst>
              <a:ext uri="{FF2B5EF4-FFF2-40B4-BE49-F238E27FC236}">
                <a16:creationId xmlns:a16="http://schemas.microsoft.com/office/drawing/2014/main" id="{DAE99A83-33C0-3569-3EA2-88A439D7F0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2364" y="1877491"/>
            <a:ext cx="4030135" cy="3215368"/>
          </a:xfrm>
        </p:spPr>
        <p:txBody>
          <a:bodyPr anchorCtr="1"/>
          <a:lstStyle/>
          <a:p>
            <a:pPr lvl="0" algn="ctr"/>
            <a:r>
              <a:rPr lang="en-US">
                <a:solidFill>
                  <a:srgbClr val="FFFFFF"/>
                </a:solidFill>
              </a:rPr>
              <a:t>Ce este metoda de înva</a:t>
            </a:r>
            <a:r>
              <a:rPr lang="ro-RO">
                <a:solidFill>
                  <a:srgbClr val="FFFFFF"/>
                </a:solidFill>
              </a:rPr>
              <a:t>ț</a:t>
            </a:r>
            <a:r>
              <a:rPr lang="en-US">
                <a:solidFill>
                  <a:srgbClr val="FFFFFF"/>
                </a:solidFill>
              </a:rPr>
              <a:t>are prin carduri?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ED486966-B76E-2C62-F5A7-9B97925ACA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377894"/>
            <a:ext cx="1861855" cy="717511"/>
            <a:chOff x="0" y="377894"/>
            <a:chExt cx="1861855" cy="717511"/>
          </a:xfrm>
        </p:grpSpPr>
        <p:sp>
          <p:nvSpPr>
            <p:cNvPr id="8" name="Freeform: Shape 16">
              <a:extLst>
                <a:ext uri="{FF2B5EF4-FFF2-40B4-BE49-F238E27FC236}">
                  <a16:creationId xmlns:a16="http://schemas.microsoft.com/office/drawing/2014/main" id="{95B3EA00-82DE-E7C1-72B8-1A876B28B5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77894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7963"/>
                <a:gd name="f19" fmla="val 39017"/>
                <a:gd name="f20" fmla="val 219283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7963 f28 1"/>
                <a:gd name="f46" fmla="*/ 39017 f28 1"/>
                <a:gd name="f47" fmla="*/ 277779 f28 1"/>
                <a:gd name="f48" fmla="*/ 0 f29 1"/>
                <a:gd name="f49" fmla="*/ 219283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9" name="Freeform: Shape 17">
              <a:extLst>
                <a:ext uri="{FF2B5EF4-FFF2-40B4-BE49-F238E27FC236}">
                  <a16:creationId xmlns:a16="http://schemas.microsoft.com/office/drawing/2014/main" id="{D3A142E0-4C2E-6385-2143-5A21B6937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817629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8208"/>
                <a:gd name="f19" fmla="val 39017"/>
                <a:gd name="f20" fmla="val 219475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8208 f28 1"/>
                <a:gd name="f46" fmla="*/ 39017 f28 1"/>
                <a:gd name="f47" fmla="*/ 277779 f28 1"/>
                <a:gd name="f48" fmla="*/ 0 f29 1"/>
                <a:gd name="f49" fmla="*/ 219475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10" name="Graphic 212">
            <a:extLst>
              <a:ext uri="{FF2B5EF4-FFF2-40B4-BE49-F238E27FC236}">
                <a16:creationId xmlns:a16="http://schemas.microsoft.com/office/drawing/2014/main" id="{C355068E-85CB-8E0D-DB93-9B0912DD94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88523" y="457812"/>
            <a:ext cx="914564" cy="9145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Graphic 212">
            <a:extLst>
              <a:ext uri="{FF2B5EF4-FFF2-40B4-BE49-F238E27FC236}">
                <a16:creationId xmlns:a16="http://schemas.microsoft.com/office/drawing/2014/main" id="{C62AB9E8-6D48-346C-35B1-6366222CB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88523" y="457812"/>
            <a:ext cx="914564" cy="9145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A671C8F5-3719-819C-F90B-10B976A0E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2978" y="4946666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Oval 25">
            <a:extLst>
              <a:ext uri="{FF2B5EF4-FFF2-40B4-BE49-F238E27FC236}">
                <a16:creationId xmlns:a16="http://schemas.microsoft.com/office/drawing/2014/main" id="{7FD252D8-B50A-2A20-59D8-EFBB7EB57C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2978" y="4946666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7ADF074F-FAA9-9228-3421-7F54793CD1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4863" y="1130847"/>
            <a:ext cx="5217173" cy="4351336"/>
          </a:xfrm>
        </p:spPr>
        <p:txBody>
          <a:bodyPr/>
          <a:lstStyle/>
          <a:p>
            <a:pPr lvl="0"/>
            <a:r>
              <a:rPr lang="en-US">
                <a:solidFill>
                  <a:srgbClr val="FFFFFF"/>
                </a:solidFill>
              </a:rPr>
              <a:t>Metoda prin carduri, cunoscuta 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i ca flashcards</a:t>
            </a:r>
            <a:r>
              <a:rPr lang="ro-RO">
                <a:solidFill>
                  <a:srgbClr val="FFFFFF"/>
                </a:solidFill>
              </a:rPr>
              <a:t> sau pin cards,</a:t>
            </a:r>
            <a:r>
              <a:rPr lang="en-US">
                <a:solidFill>
                  <a:srgbClr val="FFFFFF"/>
                </a:solidFill>
              </a:rPr>
              <a:t> presupune utilizarea de carduri cu întreb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ri pe o parte 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i r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spunsuri pe cealalt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.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Utilizatorul revizuie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te cardurile în mod repetat pentru a consolida cuno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tin</a:t>
            </a:r>
            <a:r>
              <a:rPr lang="ro-RO">
                <a:solidFill>
                  <a:srgbClr val="FFFFFF"/>
                </a:solidFill>
              </a:rPr>
              <a:t>ț</a:t>
            </a:r>
            <a:r>
              <a:rPr lang="en-US">
                <a:solidFill>
                  <a:srgbClr val="FFFFFF"/>
                </a:solidFill>
              </a:rPr>
              <a:t>ele într-un mod eficient 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i sistematic.</a:t>
            </a:r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A565F7B8-CC0F-96DE-ECEF-058FDC110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12243" y="6139464"/>
            <a:ext cx="1054467" cy="469690"/>
            <a:chOff x="9812243" y="6139464"/>
            <a:chExt cx="1054467" cy="469690"/>
          </a:xfrm>
        </p:grpSpPr>
        <p:sp>
          <p:nvSpPr>
            <p:cNvPr id="16" name="Freeform: Shape 28">
              <a:extLst>
                <a:ext uri="{FF2B5EF4-FFF2-40B4-BE49-F238E27FC236}">
                  <a16:creationId xmlns:a16="http://schemas.microsoft.com/office/drawing/2014/main" id="{88F8C62E-A147-8A29-7F8E-997CE3661C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12243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7" name="Freeform: Shape 29">
              <a:extLst>
                <a:ext uri="{FF2B5EF4-FFF2-40B4-BE49-F238E27FC236}">
                  <a16:creationId xmlns:a16="http://schemas.microsoft.com/office/drawing/2014/main" id="{BA1E3BFA-700B-0A17-1327-7E03FD0668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87040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8" name="Freeform: Shape 30">
              <a:extLst>
                <a:ext uri="{FF2B5EF4-FFF2-40B4-BE49-F238E27FC236}">
                  <a16:creationId xmlns:a16="http://schemas.microsoft.com/office/drawing/2014/main" id="{559211F9-AF58-C69F-E181-A46DC89D5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61836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9" name="Freeform: Shape 31">
              <a:extLst>
                <a:ext uri="{FF2B5EF4-FFF2-40B4-BE49-F238E27FC236}">
                  <a16:creationId xmlns:a16="http://schemas.microsoft.com/office/drawing/2014/main" id="{6F172E7B-36C4-F0B2-C84B-7B190F5150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36633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20" name="Freeform: Shape 32">
              <a:extLst>
                <a:ext uri="{FF2B5EF4-FFF2-40B4-BE49-F238E27FC236}">
                  <a16:creationId xmlns:a16="http://schemas.microsoft.com/office/drawing/2014/main" id="{BCFB556A-71F1-D4A1-74DC-AE215D38A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511439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79">
            <a:extLst>
              <a:ext uri="{FF2B5EF4-FFF2-40B4-BE49-F238E27FC236}">
                <a16:creationId xmlns:a16="http://schemas.microsoft.com/office/drawing/2014/main" id="{0AECC283-0869-E740-09C9-25EBDEA22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Oval 381">
            <a:extLst>
              <a:ext uri="{FF2B5EF4-FFF2-40B4-BE49-F238E27FC236}">
                <a16:creationId xmlns:a16="http://schemas.microsoft.com/office/drawing/2014/main" id="{D9893DE3-4D3E-C1E4-2651-12E72A57C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88394" y="1040834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Oval 383">
            <a:extLst>
              <a:ext uri="{FF2B5EF4-FFF2-40B4-BE49-F238E27FC236}">
                <a16:creationId xmlns:a16="http://schemas.microsoft.com/office/drawing/2014/main" id="{BA15221F-46E4-436F-729F-9C875055E8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79415" y="1029605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4EA72E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Oval 385">
            <a:extLst>
              <a:ext uri="{FF2B5EF4-FFF2-40B4-BE49-F238E27FC236}">
                <a16:creationId xmlns:a16="http://schemas.microsoft.com/office/drawing/2014/main" id="{FB16E72A-73E0-F765-5AAF-B5B56F9DF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739959" y="934855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Titlu 1">
            <a:extLst>
              <a:ext uri="{FF2B5EF4-FFF2-40B4-BE49-F238E27FC236}">
                <a16:creationId xmlns:a16="http://schemas.microsoft.com/office/drawing/2014/main" id="{54BF379E-96D5-CABA-A165-A318BD294B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2364" y="1877491"/>
            <a:ext cx="4030135" cy="3215368"/>
          </a:xfrm>
        </p:spPr>
        <p:txBody>
          <a:bodyPr anchorCtr="1"/>
          <a:lstStyle/>
          <a:p>
            <a:pPr lvl="0" algn="ctr"/>
            <a:r>
              <a:rPr lang="en-US">
                <a:solidFill>
                  <a:srgbClr val="FFFFFF"/>
                </a:solidFill>
              </a:rPr>
              <a:t>Avantajele utilizarii cardurilor</a:t>
            </a:r>
          </a:p>
        </p:txBody>
      </p:sp>
      <p:grpSp>
        <p:nvGrpSpPr>
          <p:cNvPr id="7" name="Group 387">
            <a:extLst>
              <a:ext uri="{FF2B5EF4-FFF2-40B4-BE49-F238E27FC236}">
                <a16:creationId xmlns:a16="http://schemas.microsoft.com/office/drawing/2014/main" id="{649BC6ED-0E61-4756-74DE-1946597654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377894"/>
            <a:ext cx="1861855" cy="717511"/>
            <a:chOff x="0" y="377894"/>
            <a:chExt cx="1861855" cy="717511"/>
          </a:xfrm>
        </p:grpSpPr>
        <p:sp>
          <p:nvSpPr>
            <p:cNvPr id="8" name="Freeform: Shape 388">
              <a:extLst>
                <a:ext uri="{FF2B5EF4-FFF2-40B4-BE49-F238E27FC236}">
                  <a16:creationId xmlns:a16="http://schemas.microsoft.com/office/drawing/2014/main" id="{7E3D2389-E9BE-00B7-942C-A2E0ABB31D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77894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7963"/>
                <a:gd name="f19" fmla="val 39017"/>
                <a:gd name="f20" fmla="val 219283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7963 f28 1"/>
                <a:gd name="f46" fmla="*/ 39017 f28 1"/>
                <a:gd name="f47" fmla="*/ 277779 f28 1"/>
                <a:gd name="f48" fmla="*/ 0 f29 1"/>
                <a:gd name="f49" fmla="*/ 219283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9" name="Freeform: Shape 389">
              <a:extLst>
                <a:ext uri="{FF2B5EF4-FFF2-40B4-BE49-F238E27FC236}">
                  <a16:creationId xmlns:a16="http://schemas.microsoft.com/office/drawing/2014/main" id="{260650D6-D2E3-C567-2DC9-72C436E00C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817629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8208"/>
                <a:gd name="f19" fmla="val 39017"/>
                <a:gd name="f20" fmla="val 219475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8208 f28 1"/>
                <a:gd name="f46" fmla="*/ 39017 f28 1"/>
                <a:gd name="f47" fmla="*/ 277779 f28 1"/>
                <a:gd name="f48" fmla="*/ 0 f29 1"/>
                <a:gd name="f49" fmla="*/ 219475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10" name="Graphic 212">
            <a:extLst>
              <a:ext uri="{FF2B5EF4-FFF2-40B4-BE49-F238E27FC236}">
                <a16:creationId xmlns:a16="http://schemas.microsoft.com/office/drawing/2014/main" id="{0A1289E5-E054-A7AB-080B-95D76E9F3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88523" y="457812"/>
            <a:ext cx="914564" cy="9145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Graphic 212">
            <a:extLst>
              <a:ext uri="{FF2B5EF4-FFF2-40B4-BE49-F238E27FC236}">
                <a16:creationId xmlns:a16="http://schemas.microsoft.com/office/drawing/2014/main" id="{E5477FD2-1B83-18E7-6B08-0D7069923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88523" y="457812"/>
            <a:ext cx="914564" cy="9145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Oval 395">
            <a:extLst>
              <a:ext uri="{FF2B5EF4-FFF2-40B4-BE49-F238E27FC236}">
                <a16:creationId xmlns:a16="http://schemas.microsoft.com/office/drawing/2014/main" id="{C9211716-B46C-A9B6-5FE4-0C99CBDC1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2978" y="4946666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Oval 397">
            <a:extLst>
              <a:ext uri="{FF2B5EF4-FFF2-40B4-BE49-F238E27FC236}">
                <a16:creationId xmlns:a16="http://schemas.microsoft.com/office/drawing/2014/main" id="{63A4E56D-2D3B-7C3F-19CC-4A20D3CE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2978" y="4946666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BB3AA479-8B2A-9480-B87B-14369D6C21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4863" y="1130847"/>
            <a:ext cx="5217173" cy="4351336"/>
          </a:xfrm>
        </p:spPr>
        <p:txBody>
          <a:bodyPr/>
          <a:lstStyle/>
          <a:p>
            <a:pPr lvl="0"/>
            <a:r>
              <a:rPr lang="en-US">
                <a:solidFill>
                  <a:srgbClr val="FFFFFF"/>
                </a:solidFill>
              </a:rPr>
              <a:t>- Repeti</a:t>
            </a:r>
            <a:r>
              <a:rPr lang="ro-RO">
                <a:solidFill>
                  <a:srgbClr val="FFFFFF"/>
                </a:solidFill>
              </a:rPr>
              <a:t>ț</a:t>
            </a:r>
            <a:r>
              <a:rPr lang="en-US">
                <a:solidFill>
                  <a:srgbClr val="FFFFFF"/>
                </a:solidFill>
              </a:rPr>
              <a:t>ia sporit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 îmbunat</a:t>
            </a:r>
            <a:r>
              <a:rPr lang="ro-RO">
                <a:solidFill>
                  <a:srgbClr val="FFFFFF"/>
                </a:solidFill>
              </a:rPr>
              <a:t>ăț</a:t>
            </a:r>
            <a:r>
              <a:rPr lang="en-US">
                <a:solidFill>
                  <a:srgbClr val="FFFFFF"/>
                </a:solidFill>
              </a:rPr>
              <a:t>e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te memoria pe termen lung.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- Permite identificarea rapid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 a lacunelor în cuno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tin</a:t>
            </a:r>
            <a:r>
              <a:rPr lang="ro-RO">
                <a:solidFill>
                  <a:srgbClr val="FFFFFF"/>
                </a:solidFill>
              </a:rPr>
              <a:t>ț</a:t>
            </a:r>
            <a:r>
              <a:rPr lang="en-US">
                <a:solidFill>
                  <a:srgbClr val="FFFFFF"/>
                </a:solidFill>
              </a:rPr>
              <a:t>e.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- Flexibilitate: cardurile pot fi folosite oriunde, oricând.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- Adaptabilitate: se pot crea carduri pentru orice domeniu de înv</a:t>
            </a:r>
            <a:r>
              <a:rPr lang="ro-RO">
                <a:solidFill>
                  <a:srgbClr val="FFFFFF"/>
                </a:solidFill>
              </a:rPr>
              <a:t>ăț</a:t>
            </a:r>
            <a:r>
              <a:rPr lang="en-US">
                <a:solidFill>
                  <a:srgbClr val="FFFFFF"/>
                </a:solidFill>
              </a:rPr>
              <a:t>are.</a:t>
            </a:r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F6D5DFBC-1867-3FA9-64DD-180D31530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12243" y="6139464"/>
            <a:ext cx="1054467" cy="469690"/>
            <a:chOff x="9812243" y="6139464"/>
            <a:chExt cx="1054467" cy="469690"/>
          </a:xfrm>
        </p:grpSpPr>
        <p:sp>
          <p:nvSpPr>
            <p:cNvPr id="16" name="Freeform: Shape 400">
              <a:extLst>
                <a:ext uri="{FF2B5EF4-FFF2-40B4-BE49-F238E27FC236}">
                  <a16:creationId xmlns:a16="http://schemas.microsoft.com/office/drawing/2014/main" id="{54799658-5228-17BD-4BDE-028534348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12243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7" name="Freeform: Shape 401">
              <a:extLst>
                <a:ext uri="{FF2B5EF4-FFF2-40B4-BE49-F238E27FC236}">
                  <a16:creationId xmlns:a16="http://schemas.microsoft.com/office/drawing/2014/main" id="{64D3DB6E-1614-9F62-49FC-45E5FDF5B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87040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8" name="Freeform: Shape 402">
              <a:extLst>
                <a:ext uri="{FF2B5EF4-FFF2-40B4-BE49-F238E27FC236}">
                  <a16:creationId xmlns:a16="http://schemas.microsoft.com/office/drawing/2014/main" id="{C21D46B0-72C8-B24D-E97E-054340494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61836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9" name="Freeform: Shape 403">
              <a:extLst>
                <a:ext uri="{FF2B5EF4-FFF2-40B4-BE49-F238E27FC236}">
                  <a16:creationId xmlns:a16="http://schemas.microsoft.com/office/drawing/2014/main" id="{07FE1D05-5151-8537-2565-267AAE1E4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36633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20" name="Freeform: Shape 404">
              <a:extLst>
                <a:ext uri="{FF2B5EF4-FFF2-40B4-BE49-F238E27FC236}">
                  <a16:creationId xmlns:a16="http://schemas.microsoft.com/office/drawing/2014/main" id="{61E47CBD-3B41-E905-5D27-7AB33254CC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511439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4">
            <a:extLst>
              <a:ext uri="{FF2B5EF4-FFF2-40B4-BE49-F238E27FC236}">
                <a16:creationId xmlns:a16="http://schemas.microsoft.com/office/drawing/2014/main" id="{25AA15D3-992D-E43F-64EC-80A6824A8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Oval 366">
            <a:extLst>
              <a:ext uri="{FF2B5EF4-FFF2-40B4-BE49-F238E27FC236}">
                <a16:creationId xmlns:a16="http://schemas.microsoft.com/office/drawing/2014/main" id="{E78B066D-0178-9330-9CF4-698BBEE455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88394" y="1040834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Oval 368">
            <a:extLst>
              <a:ext uri="{FF2B5EF4-FFF2-40B4-BE49-F238E27FC236}">
                <a16:creationId xmlns:a16="http://schemas.microsoft.com/office/drawing/2014/main" id="{74EC4B0A-D8A4-BFC0-BBEB-0F23A87AF6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79415" y="1029605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4EA72E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Oval 370">
            <a:extLst>
              <a:ext uri="{FF2B5EF4-FFF2-40B4-BE49-F238E27FC236}">
                <a16:creationId xmlns:a16="http://schemas.microsoft.com/office/drawing/2014/main" id="{47EB07CF-043B-4673-52CA-90E8EDFF7B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739959" y="934855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Titlu 1">
            <a:extLst>
              <a:ext uri="{FF2B5EF4-FFF2-40B4-BE49-F238E27FC236}">
                <a16:creationId xmlns:a16="http://schemas.microsoft.com/office/drawing/2014/main" id="{5FCCDF4D-CADC-2446-3CC4-FFE8EFE842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2364" y="1877491"/>
            <a:ext cx="4030135" cy="3215368"/>
          </a:xfrm>
        </p:spPr>
        <p:txBody>
          <a:bodyPr anchorCtr="1"/>
          <a:lstStyle/>
          <a:p>
            <a:pPr lvl="0" algn="ctr"/>
            <a:r>
              <a:rPr lang="en-US">
                <a:solidFill>
                  <a:srgbClr val="FFFFFF"/>
                </a:solidFill>
              </a:rPr>
              <a:t>Sfaturi pentru utilizarea eficient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 a cardurilor</a:t>
            </a:r>
          </a:p>
        </p:txBody>
      </p:sp>
      <p:grpSp>
        <p:nvGrpSpPr>
          <p:cNvPr id="7" name="Group 372">
            <a:extLst>
              <a:ext uri="{FF2B5EF4-FFF2-40B4-BE49-F238E27FC236}">
                <a16:creationId xmlns:a16="http://schemas.microsoft.com/office/drawing/2014/main" id="{F7C0300B-B8BE-4171-5485-4187D4F5D4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377894"/>
            <a:ext cx="1861855" cy="717511"/>
            <a:chOff x="0" y="377894"/>
            <a:chExt cx="1861855" cy="717511"/>
          </a:xfrm>
        </p:grpSpPr>
        <p:sp>
          <p:nvSpPr>
            <p:cNvPr id="8" name="Freeform: Shape 373">
              <a:extLst>
                <a:ext uri="{FF2B5EF4-FFF2-40B4-BE49-F238E27FC236}">
                  <a16:creationId xmlns:a16="http://schemas.microsoft.com/office/drawing/2014/main" id="{38C258E4-DDD5-D3E2-A68C-A3FA3F43F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77894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7963"/>
                <a:gd name="f19" fmla="val 39017"/>
                <a:gd name="f20" fmla="val 219283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7963 f28 1"/>
                <a:gd name="f46" fmla="*/ 39017 f28 1"/>
                <a:gd name="f47" fmla="*/ 277779 f28 1"/>
                <a:gd name="f48" fmla="*/ 0 f29 1"/>
                <a:gd name="f49" fmla="*/ 219283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9" name="Freeform: Shape 374">
              <a:extLst>
                <a:ext uri="{FF2B5EF4-FFF2-40B4-BE49-F238E27FC236}">
                  <a16:creationId xmlns:a16="http://schemas.microsoft.com/office/drawing/2014/main" id="{82C7B326-B053-5143-D77D-0AF4E1F5B3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817629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8208"/>
                <a:gd name="f19" fmla="val 39017"/>
                <a:gd name="f20" fmla="val 219475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8208 f28 1"/>
                <a:gd name="f46" fmla="*/ 39017 f28 1"/>
                <a:gd name="f47" fmla="*/ 277779 f28 1"/>
                <a:gd name="f48" fmla="*/ 0 f29 1"/>
                <a:gd name="f49" fmla="*/ 219475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10" name="Graphic 212">
            <a:extLst>
              <a:ext uri="{FF2B5EF4-FFF2-40B4-BE49-F238E27FC236}">
                <a16:creationId xmlns:a16="http://schemas.microsoft.com/office/drawing/2014/main" id="{6EB74A48-86FD-7A58-CA02-1815E8A87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88523" y="457812"/>
            <a:ext cx="914564" cy="9145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Graphic 212">
            <a:extLst>
              <a:ext uri="{FF2B5EF4-FFF2-40B4-BE49-F238E27FC236}">
                <a16:creationId xmlns:a16="http://schemas.microsoft.com/office/drawing/2014/main" id="{45D08BC8-38EC-5EAD-1DBD-B4F29D00D9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88523" y="457812"/>
            <a:ext cx="914564" cy="9145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Oval 380">
            <a:extLst>
              <a:ext uri="{FF2B5EF4-FFF2-40B4-BE49-F238E27FC236}">
                <a16:creationId xmlns:a16="http://schemas.microsoft.com/office/drawing/2014/main" id="{7988D05A-C783-AE25-5EA1-1EB6E4445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2978" y="4946666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Oval 382">
            <a:extLst>
              <a:ext uri="{FF2B5EF4-FFF2-40B4-BE49-F238E27FC236}">
                <a16:creationId xmlns:a16="http://schemas.microsoft.com/office/drawing/2014/main" id="{FA119E40-E84E-FE6F-AF57-847C751E3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2978" y="4946666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72F43CFB-BCF3-5C16-3D24-28D689DD2B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4863" y="1130847"/>
            <a:ext cx="5217173" cy="4351336"/>
          </a:xfrm>
        </p:spPr>
        <p:txBody>
          <a:bodyPr/>
          <a:lstStyle/>
          <a:p>
            <a:pPr lvl="0"/>
            <a:r>
              <a:rPr lang="en-US" sz="2600">
                <a:solidFill>
                  <a:srgbClr val="FFFFFF"/>
                </a:solidFill>
              </a:rPr>
              <a:t>- Creeaza carduri clare </a:t>
            </a:r>
            <a:r>
              <a:rPr lang="ro-RO" sz="2600">
                <a:solidFill>
                  <a:srgbClr val="FFFFFF"/>
                </a:solidFill>
              </a:rPr>
              <a:t>ș</a:t>
            </a:r>
            <a:r>
              <a:rPr lang="en-US" sz="2600">
                <a:solidFill>
                  <a:srgbClr val="FFFFFF"/>
                </a:solidFill>
              </a:rPr>
              <a:t>i concise pentru fiecare concept.</a:t>
            </a:r>
          </a:p>
          <a:p>
            <a:pPr lvl="0"/>
            <a:r>
              <a:rPr lang="en-US" sz="2600">
                <a:solidFill>
                  <a:srgbClr val="FFFFFF"/>
                </a:solidFill>
              </a:rPr>
              <a:t>- Utilizeaz</a:t>
            </a:r>
            <a:r>
              <a:rPr lang="ro-RO" sz="2600">
                <a:solidFill>
                  <a:srgbClr val="FFFFFF"/>
                </a:solidFill>
              </a:rPr>
              <a:t>ă</a:t>
            </a:r>
            <a:r>
              <a:rPr lang="en-US" sz="2600">
                <a:solidFill>
                  <a:srgbClr val="FFFFFF"/>
                </a:solidFill>
              </a:rPr>
              <a:t> atât întreb</a:t>
            </a:r>
            <a:r>
              <a:rPr lang="ro-RO" sz="2600">
                <a:solidFill>
                  <a:srgbClr val="FFFFFF"/>
                </a:solidFill>
              </a:rPr>
              <a:t>ă</a:t>
            </a:r>
            <a:r>
              <a:rPr lang="en-US" sz="2600">
                <a:solidFill>
                  <a:srgbClr val="FFFFFF"/>
                </a:solidFill>
              </a:rPr>
              <a:t>ri cât </a:t>
            </a:r>
            <a:r>
              <a:rPr lang="ro-RO" sz="2600">
                <a:solidFill>
                  <a:srgbClr val="FFFFFF"/>
                </a:solidFill>
              </a:rPr>
              <a:t>ș</a:t>
            </a:r>
            <a:r>
              <a:rPr lang="en-US" sz="2600">
                <a:solidFill>
                  <a:srgbClr val="FFFFFF"/>
                </a:solidFill>
              </a:rPr>
              <a:t>i imagini pentru o în</a:t>
            </a:r>
            <a:r>
              <a:rPr lang="ro-RO" sz="2600">
                <a:solidFill>
                  <a:srgbClr val="FFFFFF"/>
                </a:solidFill>
              </a:rPr>
              <a:t>ț</a:t>
            </a:r>
            <a:r>
              <a:rPr lang="en-US" sz="2600">
                <a:solidFill>
                  <a:srgbClr val="FFFFFF"/>
                </a:solidFill>
              </a:rPr>
              <a:t>elegere complet</a:t>
            </a:r>
            <a:r>
              <a:rPr lang="ro-RO" sz="2600">
                <a:solidFill>
                  <a:srgbClr val="FFFFFF"/>
                </a:solidFill>
              </a:rPr>
              <a:t>ă</a:t>
            </a:r>
            <a:r>
              <a:rPr lang="en-US" sz="2600">
                <a:solidFill>
                  <a:srgbClr val="FFFFFF"/>
                </a:solidFill>
              </a:rPr>
              <a:t>.</a:t>
            </a:r>
          </a:p>
          <a:p>
            <a:pPr lvl="0"/>
            <a:r>
              <a:rPr lang="en-US" sz="2600">
                <a:solidFill>
                  <a:srgbClr val="FFFFFF"/>
                </a:solidFill>
              </a:rPr>
              <a:t>- Repet</a:t>
            </a:r>
            <a:r>
              <a:rPr lang="ro-RO" sz="2600">
                <a:solidFill>
                  <a:srgbClr val="FFFFFF"/>
                </a:solidFill>
              </a:rPr>
              <a:t>ă</a:t>
            </a:r>
            <a:r>
              <a:rPr lang="en-US" sz="2600">
                <a:solidFill>
                  <a:srgbClr val="FFFFFF"/>
                </a:solidFill>
              </a:rPr>
              <a:t> cardurile în sesiuni regulate </a:t>
            </a:r>
            <a:r>
              <a:rPr lang="ro-RO" sz="2600">
                <a:solidFill>
                  <a:srgbClr val="FFFFFF"/>
                </a:solidFill>
              </a:rPr>
              <a:t>ș</a:t>
            </a:r>
            <a:r>
              <a:rPr lang="en-US" sz="2600">
                <a:solidFill>
                  <a:srgbClr val="FFFFFF"/>
                </a:solidFill>
              </a:rPr>
              <a:t>i verifica-</a:t>
            </a:r>
            <a:r>
              <a:rPr lang="ro-RO" sz="2600">
                <a:solidFill>
                  <a:srgbClr val="FFFFFF"/>
                </a:solidFill>
              </a:rPr>
              <a:t>ț</a:t>
            </a:r>
            <a:r>
              <a:rPr lang="en-US" sz="2600">
                <a:solidFill>
                  <a:srgbClr val="FFFFFF"/>
                </a:solidFill>
              </a:rPr>
              <a:t>i progresul.</a:t>
            </a:r>
          </a:p>
          <a:p>
            <a:pPr lvl="0"/>
            <a:r>
              <a:rPr lang="en-US" sz="2600">
                <a:solidFill>
                  <a:srgbClr val="FFFFFF"/>
                </a:solidFill>
              </a:rPr>
              <a:t>- Folose</a:t>
            </a:r>
            <a:r>
              <a:rPr lang="ro-RO" sz="2600">
                <a:solidFill>
                  <a:srgbClr val="FFFFFF"/>
                </a:solidFill>
              </a:rPr>
              <a:t>ș</a:t>
            </a:r>
            <a:r>
              <a:rPr lang="en-US" sz="2600">
                <a:solidFill>
                  <a:srgbClr val="FFFFFF"/>
                </a:solidFill>
              </a:rPr>
              <a:t>te metode de repetare</a:t>
            </a:r>
            <a:r>
              <a:rPr lang="ro-RO" sz="2600">
                <a:solidFill>
                  <a:srgbClr val="FFFFFF"/>
                </a:solidFill>
              </a:rPr>
              <a:t> anumite</a:t>
            </a:r>
            <a:r>
              <a:rPr lang="en-US" sz="2600">
                <a:solidFill>
                  <a:srgbClr val="FFFFFF"/>
                </a:solidFill>
              </a:rPr>
              <a:t> la intervale</a:t>
            </a:r>
            <a:r>
              <a:rPr lang="ro-RO" sz="2600">
                <a:solidFill>
                  <a:srgbClr val="FFFFFF"/>
                </a:solidFill>
              </a:rPr>
              <a:t> de timp</a:t>
            </a:r>
            <a:r>
              <a:rPr lang="en-US" sz="2600">
                <a:solidFill>
                  <a:srgbClr val="FFFFFF"/>
                </a:solidFill>
              </a:rPr>
              <a:t> pentru a îmbun</a:t>
            </a:r>
            <a:r>
              <a:rPr lang="ro-RO" sz="2600">
                <a:solidFill>
                  <a:srgbClr val="FFFFFF"/>
                </a:solidFill>
              </a:rPr>
              <a:t>ă</a:t>
            </a:r>
            <a:r>
              <a:rPr lang="en-US" sz="2600">
                <a:solidFill>
                  <a:srgbClr val="FFFFFF"/>
                </a:solidFill>
              </a:rPr>
              <a:t>t</a:t>
            </a:r>
            <a:r>
              <a:rPr lang="ro-RO" sz="2600">
                <a:solidFill>
                  <a:srgbClr val="FFFFFF"/>
                </a:solidFill>
              </a:rPr>
              <a:t>ăț</a:t>
            </a:r>
            <a:r>
              <a:rPr lang="en-US" sz="2600">
                <a:solidFill>
                  <a:srgbClr val="FFFFFF"/>
                </a:solidFill>
              </a:rPr>
              <a:t>i re</a:t>
            </a:r>
            <a:r>
              <a:rPr lang="ro-RO" sz="2600">
                <a:solidFill>
                  <a:srgbClr val="FFFFFF"/>
                </a:solidFill>
              </a:rPr>
              <a:t>ținerea</a:t>
            </a:r>
            <a:r>
              <a:rPr lang="en-US" sz="2600">
                <a:solidFill>
                  <a:srgbClr val="FFFFFF"/>
                </a:solidFill>
              </a:rPr>
              <a:t>.</a:t>
            </a:r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99CEDA28-A59B-31A6-CF53-EEA887433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12243" y="6139464"/>
            <a:ext cx="1054467" cy="469690"/>
            <a:chOff x="9812243" y="6139464"/>
            <a:chExt cx="1054467" cy="469690"/>
          </a:xfrm>
        </p:grpSpPr>
        <p:sp>
          <p:nvSpPr>
            <p:cNvPr id="16" name="Freeform: Shape 385">
              <a:extLst>
                <a:ext uri="{FF2B5EF4-FFF2-40B4-BE49-F238E27FC236}">
                  <a16:creationId xmlns:a16="http://schemas.microsoft.com/office/drawing/2014/main" id="{EEBDD9E9-A9BF-3B9D-6BE1-B6D4D6EA6C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12243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7" name="Freeform: Shape 386">
              <a:extLst>
                <a:ext uri="{FF2B5EF4-FFF2-40B4-BE49-F238E27FC236}">
                  <a16:creationId xmlns:a16="http://schemas.microsoft.com/office/drawing/2014/main" id="{A452E189-099C-2A51-5E7F-EE0AF7DCB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87040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8" name="Freeform: Shape 387">
              <a:extLst>
                <a:ext uri="{FF2B5EF4-FFF2-40B4-BE49-F238E27FC236}">
                  <a16:creationId xmlns:a16="http://schemas.microsoft.com/office/drawing/2014/main" id="{C5D3FB88-706D-7298-07B7-F389ED9C8C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61836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9" name="Freeform: Shape 388">
              <a:extLst>
                <a:ext uri="{FF2B5EF4-FFF2-40B4-BE49-F238E27FC236}">
                  <a16:creationId xmlns:a16="http://schemas.microsoft.com/office/drawing/2014/main" id="{5EA4122C-90D3-B22D-4009-B26DD9C18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36633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20" name="Freeform: Shape 389">
              <a:extLst>
                <a:ext uri="{FF2B5EF4-FFF2-40B4-BE49-F238E27FC236}">
                  <a16:creationId xmlns:a16="http://schemas.microsoft.com/office/drawing/2014/main" id="{45871339-E27D-CDA4-E083-E37B74E93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511439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5B9F74DE-3024-BFD7-2BD4-3C6F9A5CAE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0" y="0"/>
            <a:ext cx="12191996" cy="6858000"/>
          </a:xfrm>
          <a:prstGeom prst="rect">
            <a:avLst/>
          </a:prstGeom>
          <a:solidFill>
            <a:srgbClr val="000000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" name="Oval 9">
            <a:extLst>
              <a:ext uri="{FF2B5EF4-FFF2-40B4-BE49-F238E27FC236}">
                <a16:creationId xmlns:a16="http://schemas.microsoft.com/office/drawing/2014/main" id="{4FC40B84-2DEF-50F6-3FBF-5DA93CEBF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88394" y="1040834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4" name="Oval 11">
            <a:extLst>
              <a:ext uri="{FF2B5EF4-FFF2-40B4-BE49-F238E27FC236}">
                <a16:creationId xmlns:a16="http://schemas.microsoft.com/office/drawing/2014/main" id="{0E5D473D-8B0D-7A55-47E5-620E3697B3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879415" y="1029605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4EA72E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7394E4AD-18A3-EAC5-954F-C2DADA51B5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739959" y="934855"/>
            <a:ext cx="4754944" cy="4754944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000000"/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6" name="Titlu 1">
            <a:extLst>
              <a:ext uri="{FF2B5EF4-FFF2-40B4-BE49-F238E27FC236}">
                <a16:creationId xmlns:a16="http://schemas.microsoft.com/office/drawing/2014/main" id="{785E0548-6C68-1527-6ADE-EE67412CB9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02364" y="1877491"/>
            <a:ext cx="4030135" cy="3215368"/>
          </a:xfrm>
        </p:spPr>
        <p:txBody>
          <a:bodyPr anchorCtr="1"/>
          <a:lstStyle/>
          <a:p>
            <a:pPr lvl="0" algn="ctr"/>
            <a:r>
              <a:rPr lang="en-US">
                <a:solidFill>
                  <a:srgbClr val="FFFFFF"/>
                </a:solidFill>
              </a:rPr>
              <a:t>Concluzie</a:t>
            </a:r>
          </a:p>
        </p:txBody>
      </p:sp>
      <p:grpSp>
        <p:nvGrpSpPr>
          <p:cNvPr id="7" name="Group 15">
            <a:extLst>
              <a:ext uri="{FF2B5EF4-FFF2-40B4-BE49-F238E27FC236}">
                <a16:creationId xmlns:a16="http://schemas.microsoft.com/office/drawing/2014/main" id="{DE8FA4AE-AB5B-F513-6453-99E9B2DF4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377894"/>
            <a:ext cx="1861855" cy="717511"/>
            <a:chOff x="0" y="377894"/>
            <a:chExt cx="1861855" cy="717511"/>
          </a:xfrm>
        </p:grpSpPr>
        <p:sp>
          <p:nvSpPr>
            <p:cNvPr id="8" name="Freeform: Shape 16">
              <a:extLst>
                <a:ext uri="{FF2B5EF4-FFF2-40B4-BE49-F238E27FC236}">
                  <a16:creationId xmlns:a16="http://schemas.microsoft.com/office/drawing/2014/main" id="{021967F7-758E-384F-11E0-3895CE420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377894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7963"/>
                <a:gd name="f19" fmla="val 39017"/>
                <a:gd name="f20" fmla="val 219283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7963 f28 1"/>
                <a:gd name="f46" fmla="*/ 39017 f28 1"/>
                <a:gd name="f47" fmla="*/ 277779 f28 1"/>
                <a:gd name="f48" fmla="*/ 0 f29 1"/>
                <a:gd name="f49" fmla="*/ 219283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9" name="Freeform: Shape 17">
              <a:extLst>
                <a:ext uri="{FF2B5EF4-FFF2-40B4-BE49-F238E27FC236}">
                  <a16:creationId xmlns:a16="http://schemas.microsoft.com/office/drawing/2014/main" id="{E0F27E47-0475-617B-23A5-CDF88863DA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0" y="817629"/>
              <a:ext cx="1861855" cy="277776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1861854"/>
                <a:gd name="f7" fmla="val 277779"/>
                <a:gd name="f8" fmla="val 180458"/>
                <a:gd name="f9" fmla="val 419222"/>
                <a:gd name="f10" fmla="val 238761"/>
                <a:gd name="f11" fmla="val 657984"/>
                <a:gd name="f12" fmla="val 896745"/>
                <a:gd name="f13" fmla="val 1135754"/>
                <a:gd name="f14" fmla="val 1374516"/>
                <a:gd name="f15" fmla="val 1613277"/>
                <a:gd name="f16" fmla="val 248577"/>
                <a:gd name="f17" fmla="val 1842470"/>
                <a:gd name="f18" fmla="val 268208"/>
                <a:gd name="f19" fmla="val 39017"/>
                <a:gd name="f20" fmla="val 219475"/>
                <a:gd name="f21" fmla="+- 0 0 -90"/>
                <a:gd name="f22" fmla="*/ f3 1 1861854"/>
                <a:gd name="f23" fmla="*/ f4 1 277779"/>
                <a:gd name="f24" fmla="val f5"/>
                <a:gd name="f25" fmla="val f6"/>
                <a:gd name="f26" fmla="val f7"/>
                <a:gd name="f27" fmla="*/ f21 f0 1"/>
                <a:gd name="f28" fmla="+- f26 0 f24"/>
                <a:gd name="f29" fmla="+- f25 0 f24"/>
                <a:gd name="f30" fmla="*/ f27 1 f2"/>
                <a:gd name="f31" fmla="*/ f29 1 1861854"/>
                <a:gd name="f32" fmla="*/ f28 1 277779"/>
                <a:gd name="f33" fmla="*/ 180458 f29 1"/>
                <a:gd name="f34" fmla="*/ 0 f28 1"/>
                <a:gd name="f35" fmla="*/ 419222 f29 1"/>
                <a:gd name="f36" fmla="*/ 238761 f28 1"/>
                <a:gd name="f37" fmla="*/ 657984 f29 1"/>
                <a:gd name="f38" fmla="*/ 896745 f29 1"/>
                <a:gd name="f39" fmla="*/ 1135754 f29 1"/>
                <a:gd name="f40" fmla="*/ 1374516 f29 1"/>
                <a:gd name="f41" fmla="*/ 1613277 f29 1"/>
                <a:gd name="f42" fmla="*/ 1861854 f29 1"/>
                <a:gd name="f43" fmla="*/ 248577 f28 1"/>
                <a:gd name="f44" fmla="*/ 1842470 f29 1"/>
                <a:gd name="f45" fmla="*/ 268208 f28 1"/>
                <a:gd name="f46" fmla="*/ 39017 f28 1"/>
                <a:gd name="f47" fmla="*/ 277779 f28 1"/>
                <a:gd name="f48" fmla="*/ 0 f29 1"/>
                <a:gd name="f49" fmla="*/ 219475 f28 1"/>
                <a:gd name="f50" fmla="*/ 180458 f28 1"/>
                <a:gd name="f51" fmla="+- f30 0 f1"/>
                <a:gd name="f52" fmla="*/ f33 1 1861854"/>
                <a:gd name="f53" fmla="*/ f34 1 277779"/>
                <a:gd name="f54" fmla="*/ f35 1 1861854"/>
                <a:gd name="f55" fmla="*/ f36 1 277779"/>
                <a:gd name="f56" fmla="*/ f37 1 1861854"/>
                <a:gd name="f57" fmla="*/ f38 1 1861854"/>
                <a:gd name="f58" fmla="*/ f39 1 1861854"/>
                <a:gd name="f59" fmla="*/ f40 1 1861854"/>
                <a:gd name="f60" fmla="*/ f41 1 1861854"/>
                <a:gd name="f61" fmla="*/ f42 1 1861854"/>
                <a:gd name="f62" fmla="*/ f43 1 277779"/>
                <a:gd name="f63" fmla="*/ f44 1 1861854"/>
                <a:gd name="f64" fmla="*/ f45 1 277779"/>
                <a:gd name="f65" fmla="*/ f46 1 277779"/>
                <a:gd name="f66" fmla="*/ f47 1 277779"/>
                <a:gd name="f67" fmla="*/ f48 1 1861854"/>
                <a:gd name="f68" fmla="*/ f49 1 277779"/>
                <a:gd name="f69" fmla="*/ f50 1 277779"/>
                <a:gd name="f70" fmla="*/ f24 1 f31"/>
                <a:gd name="f71" fmla="*/ f25 1 f31"/>
                <a:gd name="f72" fmla="*/ f24 1 f32"/>
                <a:gd name="f73" fmla="*/ f26 1 f32"/>
                <a:gd name="f74" fmla="*/ f52 1 f31"/>
                <a:gd name="f75" fmla="*/ f53 1 f32"/>
                <a:gd name="f76" fmla="*/ f54 1 f31"/>
                <a:gd name="f77" fmla="*/ f55 1 f32"/>
                <a:gd name="f78" fmla="*/ f56 1 f31"/>
                <a:gd name="f79" fmla="*/ f57 1 f31"/>
                <a:gd name="f80" fmla="*/ f58 1 f31"/>
                <a:gd name="f81" fmla="*/ f59 1 f31"/>
                <a:gd name="f82" fmla="*/ f60 1 f31"/>
                <a:gd name="f83" fmla="*/ f61 1 f31"/>
                <a:gd name="f84" fmla="*/ f62 1 f32"/>
                <a:gd name="f85" fmla="*/ f63 1 f31"/>
                <a:gd name="f86" fmla="*/ f64 1 f32"/>
                <a:gd name="f87" fmla="*/ f65 1 f32"/>
                <a:gd name="f88" fmla="*/ f66 1 f32"/>
                <a:gd name="f89" fmla="*/ f67 1 f31"/>
                <a:gd name="f90" fmla="*/ f68 1 f32"/>
                <a:gd name="f91" fmla="*/ f69 1 f32"/>
                <a:gd name="f92" fmla="*/ f70 f22 1"/>
                <a:gd name="f93" fmla="*/ f71 f22 1"/>
                <a:gd name="f94" fmla="*/ f73 f23 1"/>
                <a:gd name="f95" fmla="*/ f72 f23 1"/>
                <a:gd name="f96" fmla="*/ f74 f22 1"/>
                <a:gd name="f97" fmla="*/ f75 f23 1"/>
                <a:gd name="f98" fmla="*/ f76 f22 1"/>
                <a:gd name="f99" fmla="*/ f77 f23 1"/>
                <a:gd name="f100" fmla="*/ f78 f22 1"/>
                <a:gd name="f101" fmla="*/ f79 f22 1"/>
                <a:gd name="f102" fmla="*/ f80 f22 1"/>
                <a:gd name="f103" fmla="*/ f81 f22 1"/>
                <a:gd name="f104" fmla="*/ f82 f22 1"/>
                <a:gd name="f105" fmla="*/ f83 f22 1"/>
                <a:gd name="f106" fmla="*/ f84 f23 1"/>
                <a:gd name="f107" fmla="*/ f85 f22 1"/>
                <a:gd name="f108" fmla="*/ f86 f23 1"/>
                <a:gd name="f109" fmla="*/ f87 f23 1"/>
                <a:gd name="f110" fmla="*/ f88 f23 1"/>
                <a:gd name="f111" fmla="*/ f89 f22 1"/>
                <a:gd name="f112" fmla="*/ f90 f23 1"/>
                <a:gd name="f113" fmla="*/ f91 f2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51">
                  <a:pos x="f96" y="f97"/>
                </a:cxn>
                <a:cxn ang="f51">
                  <a:pos x="f98" y="f99"/>
                </a:cxn>
                <a:cxn ang="f51">
                  <a:pos x="f100" y="f97"/>
                </a:cxn>
                <a:cxn ang="f51">
                  <a:pos x="f101" y="f99"/>
                </a:cxn>
                <a:cxn ang="f51">
                  <a:pos x="f102" y="f97"/>
                </a:cxn>
                <a:cxn ang="f51">
                  <a:pos x="f103" y="f99"/>
                </a:cxn>
                <a:cxn ang="f51">
                  <a:pos x="f104" y="f97"/>
                </a:cxn>
                <a:cxn ang="f51">
                  <a:pos x="f105" y="f106"/>
                </a:cxn>
                <a:cxn ang="f51">
                  <a:pos x="f107" y="f108"/>
                </a:cxn>
                <a:cxn ang="f51">
                  <a:pos x="f104" y="f109"/>
                </a:cxn>
                <a:cxn ang="f51">
                  <a:pos x="f103" y="f110"/>
                </a:cxn>
                <a:cxn ang="f51">
                  <a:pos x="f102" y="f109"/>
                </a:cxn>
                <a:cxn ang="f51">
                  <a:pos x="f101" y="f110"/>
                </a:cxn>
                <a:cxn ang="f51">
                  <a:pos x="f100" y="f109"/>
                </a:cxn>
                <a:cxn ang="f51">
                  <a:pos x="f98" y="f110"/>
                </a:cxn>
                <a:cxn ang="f51">
                  <a:pos x="f96" y="f109"/>
                </a:cxn>
                <a:cxn ang="f51">
                  <a:pos x="f111" y="f112"/>
                </a:cxn>
                <a:cxn ang="f51">
                  <a:pos x="f111" y="f113"/>
                </a:cxn>
              </a:cxnLst>
              <a:rect l="f92" t="f95" r="f93" b="f94"/>
              <a:pathLst>
                <a:path w="1861854" h="277779">
                  <a:moveTo>
                    <a:pt x="f8" y="f5"/>
                  </a:moveTo>
                  <a:lnTo>
                    <a:pt x="f9" y="f10"/>
                  </a:lnTo>
                  <a:lnTo>
                    <a:pt x="f11" y="f5"/>
                  </a:lnTo>
                  <a:lnTo>
                    <a:pt x="f12" y="f10"/>
                  </a:lnTo>
                  <a:lnTo>
                    <a:pt x="f13" y="f5"/>
                  </a:lnTo>
                  <a:lnTo>
                    <a:pt x="f14" y="f10"/>
                  </a:lnTo>
                  <a:lnTo>
                    <a:pt x="f15" y="f5"/>
                  </a:lnTo>
                  <a:lnTo>
                    <a:pt x="f6" y="f16"/>
                  </a:lnTo>
                  <a:lnTo>
                    <a:pt x="f17" y="f18"/>
                  </a:lnTo>
                  <a:lnTo>
                    <a:pt x="f15" y="f19"/>
                  </a:lnTo>
                  <a:lnTo>
                    <a:pt x="f14" y="f7"/>
                  </a:lnTo>
                  <a:lnTo>
                    <a:pt x="f13" y="f19"/>
                  </a:lnTo>
                  <a:lnTo>
                    <a:pt x="f12" y="f7"/>
                  </a:lnTo>
                  <a:lnTo>
                    <a:pt x="f11" y="f19"/>
                  </a:lnTo>
                  <a:lnTo>
                    <a:pt x="f9" y="f7"/>
                  </a:lnTo>
                  <a:lnTo>
                    <a:pt x="f8" y="f19"/>
                  </a:lnTo>
                  <a:lnTo>
                    <a:pt x="f5" y="f20"/>
                  </a:lnTo>
                  <a:lnTo>
                    <a:pt x="f5" y="f8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  <p:sp>
        <p:nvSpPr>
          <p:cNvPr id="10" name="Graphic 212">
            <a:extLst>
              <a:ext uri="{FF2B5EF4-FFF2-40B4-BE49-F238E27FC236}">
                <a16:creationId xmlns:a16="http://schemas.microsoft.com/office/drawing/2014/main" id="{881AAB19-A4D1-EBB5-9F6D-5CBBD495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88523" y="457812"/>
            <a:ext cx="914564" cy="9145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1" name="Graphic 212">
            <a:extLst>
              <a:ext uri="{FF2B5EF4-FFF2-40B4-BE49-F238E27FC236}">
                <a16:creationId xmlns:a16="http://schemas.microsoft.com/office/drawing/2014/main" id="{7D1292AC-FF59-7B85-5F5B-DA66FDCBA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4588523" y="457812"/>
            <a:ext cx="914564" cy="91456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807148"/>
              <a:gd name="f7" fmla="val 403574"/>
              <a:gd name="f8" fmla="val 180689"/>
              <a:gd name="f9" fmla="val 626459"/>
              <a:gd name="f10" fmla="val 807149"/>
              <a:gd name="f11" fmla="val 667988"/>
              <a:gd name="f12" fmla="val 257556"/>
              <a:gd name="f13" fmla="val 139160"/>
              <a:gd name="f14" fmla="val 549593"/>
              <a:gd name="f15" fmla="+- 0 0 -90"/>
              <a:gd name="f16" fmla="*/ f3 1 807148"/>
              <a:gd name="f17" fmla="*/ f4 1 807148"/>
              <a:gd name="f18" fmla="val f5"/>
              <a:gd name="f19" fmla="val f6"/>
              <a:gd name="f20" fmla="*/ f15 f0 1"/>
              <a:gd name="f21" fmla="+- f19 0 f18"/>
              <a:gd name="f22" fmla="*/ f20 1 f2"/>
              <a:gd name="f23" fmla="*/ f21 1 807148"/>
              <a:gd name="f24" fmla="*/ 403574 f21 1"/>
              <a:gd name="f25" fmla="*/ 0 f21 1"/>
              <a:gd name="f26" fmla="*/ 807149 f21 1"/>
              <a:gd name="f27" fmla="*/ 667988 f21 1"/>
              <a:gd name="f28" fmla="*/ 139160 f21 1"/>
              <a:gd name="f29" fmla="+- f22 0 f1"/>
              <a:gd name="f30" fmla="*/ f24 1 807148"/>
              <a:gd name="f31" fmla="*/ f25 1 807148"/>
              <a:gd name="f32" fmla="*/ f26 1 807148"/>
              <a:gd name="f33" fmla="*/ f27 1 807148"/>
              <a:gd name="f34" fmla="*/ f28 1 807148"/>
              <a:gd name="f35" fmla="*/ f18 1 f23"/>
              <a:gd name="f36" fmla="*/ f19 1 f23"/>
              <a:gd name="f37" fmla="*/ f30 1 f23"/>
              <a:gd name="f38" fmla="*/ f31 1 f23"/>
              <a:gd name="f39" fmla="*/ f32 1 f23"/>
              <a:gd name="f40" fmla="*/ f33 1 f23"/>
              <a:gd name="f41" fmla="*/ f34 1 f23"/>
              <a:gd name="f42" fmla="*/ f35 f16 1"/>
              <a:gd name="f43" fmla="*/ f36 f16 1"/>
              <a:gd name="f44" fmla="*/ f36 f17 1"/>
              <a:gd name="f45" fmla="*/ f35 f17 1"/>
              <a:gd name="f46" fmla="*/ f37 f16 1"/>
              <a:gd name="f47" fmla="*/ f38 f17 1"/>
              <a:gd name="f48" fmla="*/ f38 f16 1"/>
              <a:gd name="f49" fmla="*/ f37 f17 1"/>
              <a:gd name="f50" fmla="*/ f39 f17 1"/>
              <a:gd name="f51" fmla="*/ f39 f16 1"/>
              <a:gd name="f52" fmla="*/ f40 f17 1"/>
              <a:gd name="f53" fmla="*/ f41 f16 1"/>
              <a:gd name="f54" fmla="*/ f41 f17 1"/>
              <a:gd name="f55" fmla="*/ f40 f1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46" y="f47"/>
              </a:cxn>
              <a:cxn ang="f29">
                <a:pos x="f48" y="f49"/>
              </a:cxn>
              <a:cxn ang="f29">
                <a:pos x="f46" y="f50"/>
              </a:cxn>
              <a:cxn ang="f29">
                <a:pos x="f51" y="f49"/>
              </a:cxn>
              <a:cxn ang="f29">
                <a:pos x="f46" y="f47"/>
              </a:cxn>
              <a:cxn ang="f29">
                <a:pos x="f46" y="f52"/>
              </a:cxn>
              <a:cxn ang="f29">
                <a:pos x="f53" y="f49"/>
              </a:cxn>
              <a:cxn ang="f29">
                <a:pos x="f46" y="f54"/>
              </a:cxn>
              <a:cxn ang="f29">
                <a:pos x="f55" y="f49"/>
              </a:cxn>
              <a:cxn ang="f29">
                <a:pos x="f46" y="f52"/>
              </a:cxn>
            </a:cxnLst>
            <a:rect l="f42" t="f45" r="f43" b="f44"/>
            <a:pathLst>
              <a:path w="807148" h="807148">
                <a:moveTo>
                  <a:pt x="f7" y="f5"/>
                </a:moveTo>
                <a:cubicBezTo>
                  <a:pt x="f8" y="f5"/>
                  <a:pt x="f5" y="f8"/>
                  <a:pt x="f5" y="f7"/>
                </a:cubicBezTo>
                <a:cubicBezTo>
                  <a:pt x="f5" y="f9"/>
                  <a:pt x="f8" y="f10"/>
                  <a:pt x="f7" y="f10"/>
                </a:cubicBezTo>
                <a:cubicBezTo>
                  <a:pt x="f9" y="f10"/>
                  <a:pt x="f10" y="f9"/>
                  <a:pt x="f10" y="f7"/>
                </a:cubicBezTo>
                <a:cubicBezTo>
                  <a:pt x="f10" y="f8"/>
                  <a:pt x="f9" y="f5"/>
                  <a:pt x="f7" y="f5"/>
                </a:cubicBezTo>
                <a:close/>
                <a:moveTo>
                  <a:pt x="f7" y="f11"/>
                </a:moveTo>
                <a:cubicBezTo>
                  <a:pt x="f12" y="f11"/>
                  <a:pt x="f13" y="f14"/>
                  <a:pt x="f13" y="f7"/>
                </a:cubicBezTo>
                <a:cubicBezTo>
                  <a:pt x="f13" y="f12"/>
                  <a:pt x="f12" y="f13"/>
                  <a:pt x="f7" y="f13"/>
                </a:cubicBezTo>
                <a:cubicBezTo>
                  <a:pt x="f14" y="f13"/>
                  <a:pt x="f11" y="f12"/>
                  <a:pt x="f11" y="f7"/>
                </a:cubicBezTo>
                <a:cubicBezTo>
                  <a:pt x="f11" y="f14"/>
                  <a:pt x="f14" y="f11"/>
                  <a:pt x="f7" y="f11"/>
                </a:cubicBezTo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2" name="Oval 23">
            <a:extLst>
              <a:ext uri="{FF2B5EF4-FFF2-40B4-BE49-F238E27FC236}">
                <a16:creationId xmlns:a16="http://schemas.microsoft.com/office/drawing/2014/main" id="{2ED55408-42AD-1984-B3B7-5F08129E48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2978" y="4946666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FFFFFF"/>
          </a:solidFill>
          <a:ln w="28575" cap="flat">
            <a:solidFill>
              <a:srgbClr val="000000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3" name="Oval 25">
            <a:extLst>
              <a:ext uri="{FF2B5EF4-FFF2-40B4-BE49-F238E27FC236}">
                <a16:creationId xmlns:a16="http://schemas.microsoft.com/office/drawing/2014/main" id="{ED6C3ED1-83F0-0A08-8E53-4C6F48D39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Move="1" noResize="1"/>
          </p:cNvSpPr>
          <p:nvPr/>
        </p:nvSpPr>
        <p:spPr>
          <a:xfrm>
            <a:off x="642978" y="4946666"/>
            <a:ext cx="319939" cy="319939"/>
          </a:xfrm>
          <a:custGeom>
            <a:avLst/>
            <a:gdLst>
              <a:gd name="f0" fmla="val 21600000"/>
              <a:gd name="f1" fmla="val 10800000"/>
              <a:gd name="f2" fmla="val 5400000"/>
              <a:gd name="f3" fmla="val 18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+- 0 0 -360"/>
              <a:gd name="f10" fmla="+- 0 0 -180"/>
              <a:gd name="f11" fmla="abs f4"/>
              <a:gd name="f12" fmla="abs f5"/>
              <a:gd name="f13" fmla="abs f6"/>
              <a:gd name="f14" fmla="val f7"/>
              <a:gd name="f15" fmla="+- 2700000 f2 0"/>
              <a:gd name="f16" fmla="*/ f9 f1 1"/>
              <a:gd name="f17" fmla="*/ f10 f1 1"/>
              <a:gd name="f18" fmla="?: f11 f4 1"/>
              <a:gd name="f19" fmla="?: f12 f5 1"/>
              <a:gd name="f20" fmla="?: f13 f6 1"/>
              <a:gd name="f21" fmla="*/ f15 f8 1"/>
              <a:gd name="f22" fmla="*/ f16 1 f3"/>
              <a:gd name="f23" fmla="*/ f17 1 f3"/>
              <a:gd name="f24" fmla="*/ f18 1 21600"/>
              <a:gd name="f25" fmla="*/ f19 1 21600"/>
              <a:gd name="f26" fmla="*/ 21600 f18 1"/>
              <a:gd name="f27" fmla="*/ 21600 f19 1"/>
              <a:gd name="f28" fmla="*/ f21 1 f1"/>
              <a:gd name="f29" fmla="+- f22 0 f2"/>
              <a:gd name="f30" fmla="+- f23 0 f2"/>
              <a:gd name="f31" fmla="min f25 f24"/>
              <a:gd name="f32" fmla="*/ f26 1 f20"/>
              <a:gd name="f33" fmla="*/ f27 1 f20"/>
              <a:gd name="f34" fmla="+- 0 0 f28"/>
              <a:gd name="f35" fmla="val f32"/>
              <a:gd name="f36" fmla="val f33"/>
              <a:gd name="f37" fmla="+- 0 0 f34"/>
              <a:gd name="f38" fmla="*/ f14 f31 1"/>
              <a:gd name="f39" fmla="+- f36 0 f14"/>
              <a:gd name="f40" fmla="+- f35 0 f14"/>
              <a:gd name="f41" fmla="*/ f37 f1 1"/>
              <a:gd name="f42" fmla="*/ f39 1 2"/>
              <a:gd name="f43" fmla="*/ f40 1 2"/>
              <a:gd name="f44" fmla="*/ f41 1 f8"/>
              <a:gd name="f45" fmla="+- f14 f42 0"/>
              <a:gd name="f46" fmla="+- f14 f43 0"/>
              <a:gd name="f47" fmla="+- f44 0 f2"/>
              <a:gd name="f48" fmla="*/ f43 f31 1"/>
              <a:gd name="f49" fmla="*/ f42 f31 1"/>
              <a:gd name="f50" fmla="cos 1 f47"/>
              <a:gd name="f51" fmla="sin 1 f47"/>
              <a:gd name="f52" fmla="*/ f45 f31 1"/>
              <a:gd name="f53" fmla="+- 0 0 f50"/>
              <a:gd name="f54" fmla="+- 0 0 f51"/>
              <a:gd name="f55" fmla="+- 0 0 f53"/>
              <a:gd name="f56" fmla="+- 0 0 f54"/>
              <a:gd name="f57" fmla="*/ f55 f43 1"/>
              <a:gd name="f58" fmla="*/ f56 f42 1"/>
              <a:gd name="f59" fmla="+- f46 0 f57"/>
              <a:gd name="f60" fmla="+- f46 f57 0"/>
              <a:gd name="f61" fmla="+- f45 0 f58"/>
              <a:gd name="f62" fmla="+- f45 f58 0"/>
              <a:gd name="f63" fmla="*/ f59 f31 1"/>
              <a:gd name="f64" fmla="*/ f61 f31 1"/>
              <a:gd name="f65" fmla="*/ f60 f31 1"/>
              <a:gd name="f66" fmla="*/ f62 f3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9">
                <a:pos x="f63" y="f64"/>
              </a:cxn>
              <a:cxn ang="f30">
                <a:pos x="f63" y="f66"/>
              </a:cxn>
              <a:cxn ang="f30">
                <a:pos x="f65" y="f66"/>
              </a:cxn>
              <a:cxn ang="f29">
                <a:pos x="f65" y="f64"/>
              </a:cxn>
            </a:cxnLst>
            <a:rect l="f63" t="f64" r="f65" b="f66"/>
            <a:pathLst>
              <a:path>
                <a:moveTo>
                  <a:pt x="f38" y="f52"/>
                </a:moveTo>
                <a:arcTo wR="f48" hR="f49" stAng="f1" swAng="f0"/>
                <a:close/>
              </a:path>
            </a:pathLst>
          </a:custGeom>
          <a:solidFill>
            <a:srgbClr val="E97132">
              <a:alpha val="30000"/>
            </a:srgbClr>
          </a:solidFill>
          <a:ln w="28575" cap="flat">
            <a:solidFill>
              <a:srgbClr val="FFFFFF"/>
            </a:solidFill>
            <a:prstDash val="solid"/>
            <a:miter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14" name="Substituent text 2">
            <a:extLst>
              <a:ext uri="{FF2B5EF4-FFF2-40B4-BE49-F238E27FC236}">
                <a16:creationId xmlns:a16="http://schemas.microsoft.com/office/drawing/2014/main" id="{CEF854B6-0730-92B7-1955-40C88A53B4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234863" y="1130847"/>
            <a:ext cx="5217173" cy="4351336"/>
          </a:xfrm>
        </p:spPr>
        <p:txBody>
          <a:bodyPr/>
          <a:lstStyle/>
          <a:p>
            <a:pPr lvl="0"/>
            <a:r>
              <a:rPr lang="en-US">
                <a:solidFill>
                  <a:srgbClr val="FFFFFF"/>
                </a:solidFill>
              </a:rPr>
              <a:t>Înva</a:t>
            </a:r>
            <a:r>
              <a:rPr lang="ro-RO">
                <a:solidFill>
                  <a:srgbClr val="FFFFFF"/>
                </a:solidFill>
              </a:rPr>
              <a:t>ț</a:t>
            </a:r>
            <a:r>
              <a:rPr lang="en-US">
                <a:solidFill>
                  <a:srgbClr val="FFFFFF"/>
                </a:solidFill>
              </a:rPr>
              <a:t>area prin carduri este o metoda simpl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, dar eficient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 pentru consolidarea cuno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tin</a:t>
            </a:r>
            <a:r>
              <a:rPr lang="ro-RO">
                <a:solidFill>
                  <a:srgbClr val="FFFFFF"/>
                </a:solidFill>
              </a:rPr>
              <a:t>ț</a:t>
            </a:r>
            <a:r>
              <a:rPr lang="en-US">
                <a:solidFill>
                  <a:srgbClr val="FFFFFF"/>
                </a:solidFill>
              </a:rPr>
              <a:t>elor.</a:t>
            </a:r>
          </a:p>
          <a:p>
            <a:pPr lvl="0"/>
            <a:r>
              <a:rPr lang="en-US">
                <a:solidFill>
                  <a:srgbClr val="FFFFFF"/>
                </a:solidFill>
              </a:rPr>
              <a:t>Repeti</a:t>
            </a:r>
            <a:r>
              <a:rPr lang="ro-RO">
                <a:solidFill>
                  <a:srgbClr val="FFFFFF"/>
                </a:solidFill>
              </a:rPr>
              <a:t>ț</a:t>
            </a:r>
            <a:r>
              <a:rPr lang="en-US">
                <a:solidFill>
                  <a:srgbClr val="FFFFFF"/>
                </a:solidFill>
              </a:rPr>
              <a:t>ia activ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ro-RO">
                <a:solidFill>
                  <a:srgbClr val="FFFFFF"/>
                </a:solidFill>
              </a:rPr>
              <a:t>ș</a:t>
            </a:r>
            <a:r>
              <a:rPr lang="en-US">
                <a:solidFill>
                  <a:srgbClr val="FFFFFF"/>
                </a:solidFill>
              </a:rPr>
              <a:t>i revizuirea periodic</a:t>
            </a:r>
            <a:r>
              <a:rPr lang="ro-RO">
                <a:solidFill>
                  <a:srgbClr val="FFFFFF"/>
                </a:solidFill>
              </a:rPr>
              <a:t>ă</a:t>
            </a:r>
            <a:r>
              <a:rPr lang="en-US">
                <a:solidFill>
                  <a:srgbClr val="FFFFFF"/>
                </a:solidFill>
              </a:rPr>
              <a:t> sunt esen</a:t>
            </a:r>
            <a:r>
              <a:rPr lang="ro-RO">
                <a:solidFill>
                  <a:srgbClr val="FFFFFF"/>
                </a:solidFill>
              </a:rPr>
              <a:t>ț</a:t>
            </a:r>
            <a:r>
              <a:rPr lang="en-US">
                <a:solidFill>
                  <a:srgbClr val="FFFFFF"/>
                </a:solidFill>
              </a:rPr>
              <a:t>iale pentru succesul acestei metode.</a:t>
            </a:r>
          </a:p>
        </p:txBody>
      </p:sp>
      <p:grpSp>
        <p:nvGrpSpPr>
          <p:cNvPr id="15" name="Graphic 185">
            <a:extLst>
              <a:ext uri="{FF2B5EF4-FFF2-40B4-BE49-F238E27FC236}">
                <a16:creationId xmlns:a16="http://schemas.microsoft.com/office/drawing/2014/main" id="{B999DEDB-F36D-A6EF-D9C4-32079F780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812243" y="6139464"/>
            <a:ext cx="1054467" cy="469690"/>
            <a:chOff x="9812243" y="6139464"/>
            <a:chExt cx="1054467" cy="469690"/>
          </a:xfrm>
        </p:grpSpPr>
        <p:sp>
          <p:nvSpPr>
            <p:cNvPr id="16" name="Freeform: Shape 28">
              <a:extLst>
                <a:ext uri="{FF2B5EF4-FFF2-40B4-BE49-F238E27FC236}">
                  <a16:creationId xmlns:a16="http://schemas.microsoft.com/office/drawing/2014/main" id="{BC2BC36C-751E-19B4-E4AE-AEA35F0E31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812243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7" name="Freeform: Shape 29">
              <a:extLst>
                <a:ext uri="{FF2B5EF4-FFF2-40B4-BE49-F238E27FC236}">
                  <a16:creationId xmlns:a16="http://schemas.microsoft.com/office/drawing/2014/main" id="{B4472309-1F85-5EFB-1640-67D21986B4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9987040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765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765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8" name="Freeform: Shape 30">
              <a:extLst>
                <a:ext uri="{FF2B5EF4-FFF2-40B4-BE49-F238E27FC236}">
                  <a16:creationId xmlns:a16="http://schemas.microsoft.com/office/drawing/2014/main" id="{C71DDE48-456C-DD08-0809-1B6A35D3C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161836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19" name="Freeform: Shape 31">
              <a:extLst>
                <a:ext uri="{FF2B5EF4-FFF2-40B4-BE49-F238E27FC236}">
                  <a16:creationId xmlns:a16="http://schemas.microsoft.com/office/drawing/2014/main" id="{800157E2-731F-17C5-2E31-04493ED25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336633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  <p:sp>
          <p:nvSpPr>
            <p:cNvPr id="20" name="Freeform: Shape 32">
              <a:extLst>
                <a:ext uri="{FF2B5EF4-FFF2-40B4-BE49-F238E27FC236}">
                  <a16:creationId xmlns:a16="http://schemas.microsoft.com/office/drawing/2014/main" id="{995B9DCD-5635-3890-88E5-3748D978D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10511439" y="6139464"/>
              <a:ext cx="355271" cy="469690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02882"/>
                <a:gd name="f7" fmla="val 268223"/>
                <a:gd name="f8" fmla="val 20669"/>
                <a:gd name="f9" fmla="val 268224"/>
                <a:gd name="f10" fmla="val 182118"/>
                <a:gd name="f11" fmla="val 202883"/>
                <a:gd name="f12" fmla="+- 0 0 -90"/>
                <a:gd name="f13" fmla="*/ f3 1 202882"/>
                <a:gd name="f14" fmla="*/ f4 1 268223"/>
                <a:gd name="f15" fmla="val f5"/>
                <a:gd name="f16" fmla="val f6"/>
                <a:gd name="f17" fmla="val f7"/>
                <a:gd name="f18" fmla="*/ f12 f0 1"/>
                <a:gd name="f19" fmla="+- f17 0 f15"/>
                <a:gd name="f20" fmla="+- f16 0 f15"/>
                <a:gd name="f21" fmla="*/ f18 1 f2"/>
                <a:gd name="f22" fmla="*/ f20 1 202882"/>
                <a:gd name="f23" fmla="*/ f19 1 268223"/>
                <a:gd name="f24" fmla="*/ 20669 f20 1"/>
                <a:gd name="f25" fmla="*/ 268224 f19 1"/>
                <a:gd name="f26" fmla="*/ 0 f20 1"/>
                <a:gd name="f27" fmla="*/ 182118 f20 1"/>
                <a:gd name="f28" fmla="*/ 0 f19 1"/>
                <a:gd name="f29" fmla="*/ 202883 f20 1"/>
                <a:gd name="f30" fmla="+- f21 0 f1"/>
                <a:gd name="f31" fmla="*/ f24 1 202882"/>
                <a:gd name="f32" fmla="*/ f25 1 268223"/>
                <a:gd name="f33" fmla="*/ f26 1 202882"/>
                <a:gd name="f34" fmla="*/ f27 1 202882"/>
                <a:gd name="f35" fmla="*/ f28 1 268223"/>
                <a:gd name="f36" fmla="*/ f29 1 202882"/>
                <a:gd name="f37" fmla="*/ f15 1 f22"/>
                <a:gd name="f38" fmla="*/ f16 1 f22"/>
                <a:gd name="f39" fmla="*/ f15 1 f23"/>
                <a:gd name="f40" fmla="*/ f17 1 f23"/>
                <a:gd name="f41" fmla="*/ f31 1 f22"/>
                <a:gd name="f42" fmla="*/ f32 1 f23"/>
                <a:gd name="f43" fmla="*/ f33 1 f22"/>
                <a:gd name="f44" fmla="*/ f34 1 f22"/>
                <a:gd name="f45" fmla="*/ f35 1 f23"/>
                <a:gd name="f46" fmla="*/ f36 1 f22"/>
                <a:gd name="f47" fmla="*/ f37 f13 1"/>
                <a:gd name="f48" fmla="*/ f38 f13 1"/>
                <a:gd name="f49" fmla="*/ f40 f14 1"/>
                <a:gd name="f50" fmla="*/ f39 f14 1"/>
                <a:gd name="f51" fmla="*/ f41 f13 1"/>
                <a:gd name="f52" fmla="*/ f42 f14 1"/>
                <a:gd name="f53" fmla="*/ f43 f13 1"/>
                <a:gd name="f54" fmla="*/ f44 f13 1"/>
                <a:gd name="f55" fmla="*/ f45 f14 1"/>
                <a:gd name="f56" fmla="*/ f46 f13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30">
                  <a:pos x="f51" y="f52"/>
                </a:cxn>
                <a:cxn ang="f30">
                  <a:pos x="f53" y="f52"/>
                </a:cxn>
                <a:cxn ang="f30">
                  <a:pos x="f54" y="f55"/>
                </a:cxn>
                <a:cxn ang="f30">
                  <a:pos x="f56" y="f55"/>
                </a:cxn>
              </a:cxnLst>
              <a:rect l="f47" t="f50" r="f48" b="f49"/>
              <a:pathLst>
                <a:path w="202882" h="268223">
                  <a:moveTo>
                    <a:pt x="f8" y="f9"/>
                  </a:moveTo>
                  <a:lnTo>
                    <a:pt x="f5" y="f9"/>
                  </a:lnTo>
                  <a:lnTo>
                    <a:pt x="f10" y="f5"/>
                  </a:lnTo>
                  <a:lnTo>
                    <a:pt x="f11" y="f5"/>
                  </a:lnTo>
                  <a:close/>
                </a:path>
              </a:pathLst>
            </a:custGeom>
            <a:solidFill>
              <a:srgbClr val="FFFFFF"/>
            </a:solidFill>
            <a:ln cap="flat">
              <a:noFill/>
              <a:prstDash val="solid"/>
            </a:ln>
          </p:spPr>
          <p:txBody>
            <a:bodyPr vert="horz" wrap="square" lIns="91440" tIns="45720" rIns="91440" bIns="45720" anchor="ctr" anchorCtr="0" compatLnSpc="1">
              <a:noAutofit/>
            </a:bodyPr>
            <a:lstStyle/>
            <a:p>
              <a:pPr marL="0" marR="0" lvl="0" indent="0" algn="l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271</Words>
  <Application>Microsoft Office PowerPoint</Application>
  <PresentationFormat>Ecran lat</PresentationFormat>
  <Paragraphs>22</Paragraphs>
  <Slides>5</Slides>
  <Notes>0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Temă Office</vt:lpstr>
      <vt:lpstr>Metoda de învățare prin carduri</vt:lpstr>
      <vt:lpstr>Ce este metoda de învațare prin carduri?</vt:lpstr>
      <vt:lpstr>Avantajele utilizarii cardurilor</vt:lpstr>
      <vt:lpstr>Sfaturi pentru utilizarea eficientă a cardurilor</vt:lpstr>
      <vt:lpstr>Concluzie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Anca-Elena Magui</dc:creator>
  <cp:lastModifiedBy>Anca-Elena Magui</cp:lastModifiedBy>
  <cp:revision>1</cp:revision>
  <dcterms:created xsi:type="dcterms:W3CDTF">2024-10-28T20:37:23Z</dcterms:created>
  <dcterms:modified xsi:type="dcterms:W3CDTF">2024-10-28T20:59:50Z</dcterms:modified>
</cp:coreProperties>
</file>